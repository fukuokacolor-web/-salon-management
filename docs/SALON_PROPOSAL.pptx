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84648" y="1097280"/>
            <a:ext cx="1828800" cy="182880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4648" y="1097280"/>
            <a:ext cx="1828800" cy="1828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0">
                <a:solidFill>
                  <a:srgbClr val="FFFFFF"/>
                </a:solidFill>
                <a:latin typeface="メイリオ"/>
                <a:ea typeface="メイリオ"/>
              </a:rPr>
              <a:t>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60152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7B4A5C"/>
                </a:solidFill>
                <a:latin typeface="メイリオ"/>
                <a:ea typeface="メイリオ"/>
              </a:rPr>
              <a:t>LINEで予約が完結する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D4688A"/>
                </a:solidFill>
                <a:latin typeface="メイリオ"/>
                <a:ea typeface="メイリオ"/>
              </a:rPr>
              <a:t>サロン顧客管理システム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7B4A5C"/>
                </a:solidFill>
                <a:latin typeface="メイリオ"/>
                <a:ea typeface="メイリオ"/>
              </a:rPr>
              <a:t>オーナー様向け ご提案資料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88888"/>
                </a:solidFill>
                <a:latin typeface="メイリオ"/>
                <a:ea typeface="メイリオ"/>
              </a:rPr>
              <a:t>Version 1.0  |  2026.XX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こんなお悩みありませんか？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7B4A5C"/>
                </a:solidFill>
                <a:latin typeface="メイリオ"/>
                <a:ea typeface="メイリオ"/>
              </a:rPr>
              <a:t>一つでも当てはまれば、このシステムで解決できます。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033272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199339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47672"/>
            <a:ext cx="402336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D4688A"/>
                </a:solidFill>
                <a:latin typeface="メイリオ"/>
                <a:ea typeface="メイリオ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828800"/>
            <a:ext cx="932688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</a:rPr>
              <a:t>予約の電話・LINEメッセージ対応に追われている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97480"/>
            <a:ext cx="1033272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286207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16352"/>
            <a:ext cx="402336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D4688A"/>
                </a:solidFill>
                <a:latin typeface="メイリオ"/>
                <a:ea typeface="メイリオ"/>
              </a:rP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697480"/>
            <a:ext cx="932688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</a:rPr>
              <a:t>無断キャンセルや常連の予約忘れが多い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66160"/>
            <a:ext cx="1033272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373075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685032"/>
            <a:ext cx="402336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D4688A"/>
                </a:solidFill>
                <a:latin typeface="メイリオ"/>
                <a:ea typeface="メイリオ"/>
              </a:rPr>
              <a:t>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566160"/>
            <a:ext cx="932688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</a:rPr>
              <a:t>顧客ごとのコース残回数の管理が大変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34840"/>
            <a:ext cx="1033272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45994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53712"/>
            <a:ext cx="402336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D4688A"/>
                </a:solidFill>
                <a:latin typeface="メイリオ"/>
                <a:ea typeface="メイリオ"/>
              </a:rP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434840"/>
            <a:ext cx="932688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</a:rPr>
              <a:t>エクセル管理でデータが散らばっている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03520"/>
            <a:ext cx="1033272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546811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422392"/>
            <a:ext cx="402336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D4688A"/>
                </a:solidFill>
                <a:latin typeface="メイリオ"/>
                <a:ea typeface="メイリオ"/>
              </a:rPr>
              <a:t>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03520"/>
            <a:ext cx="932688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</a:rPr>
              <a:t>スマホで業務確認したいが既存システムは重い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このシステムが解決します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371600"/>
            <a:ext cx="9445752" cy="109728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9445752" cy="10972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</a:rPr>
              <a:t>予約・顧客・ポイント・売上。すべてを一つに。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657600" cy="3017520"/>
          </a:xfrm>
          <a:prstGeom prst="roundRect">
            <a:avLst/>
          </a:prstGeom>
          <a:solidFill>
            <a:srgbClr val="FFF5F7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0">
                <a:solidFill>
                  <a:srgbClr val="333333"/>
                </a:solidFill>
                <a:latin typeface="メイリオ"/>
                <a:ea typeface="メイリオ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7B4A5C"/>
                </a:solidFill>
                <a:latin typeface="メイリオ"/>
                <a:ea typeface="メイリオ"/>
              </a:rPr>
              <a:t>LINE予約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</a:rPr>
              <a:t>24時間いつでも受付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</a:rPr>
              <a:t>アプリ不要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926080"/>
            <a:ext cx="3657600" cy="3017520"/>
          </a:xfrm>
          <a:prstGeom prst="roundRect">
            <a:avLst/>
          </a:prstGeom>
          <a:solidFill>
            <a:srgbClr val="FFF5F7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20040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0">
                <a:solidFill>
                  <a:srgbClr val="333333"/>
                </a:solidFill>
                <a:latin typeface="メイリオ"/>
                <a:ea typeface="メイリオ"/>
              </a:rP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0624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7B4A5C"/>
                </a:solidFill>
                <a:latin typeface="メイリオ"/>
                <a:ea typeface="メイリオ"/>
              </a:rPr>
              <a:t>管理画面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84632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</a:rPr>
              <a:t>スマホ・PC対応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</a:rPr>
              <a:t>どこでも確認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26080"/>
            <a:ext cx="3657600" cy="3017520"/>
          </a:xfrm>
          <a:prstGeom prst="roundRect">
            <a:avLst/>
          </a:prstGeom>
          <a:solidFill>
            <a:srgbClr val="FFF5F7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0">
                <a:solidFill>
                  <a:srgbClr val="333333"/>
                </a:solidFill>
                <a:latin typeface="メイリオ"/>
                <a:ea typeface="メイリオ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7B4A5C"/>
                </a:solidFill>
                <a:latin typeface="メイリオ"/>
                <a:ea typeface="メイリオ"/>
              </a:rPr>
              <a:t>自動化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4632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</a:rPr>
              <a:t>リマインド・バックアップ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</a:rPr>
              <a:t>手間なし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3つの特徴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47120" cy="150876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371600" cy="150876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371600" cy="1508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メイリオ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417320"/>
            <a:ext cx="94183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B4A5C"/>
                </a:solidFill>
                <a:latin typeface="メイリオ"/>
                <a:ea typeface="メイリオ"/>
              </a:rPr>
              <a:t>LINEから24時間予約（アプリ不要）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941832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お客様は普段お使いのLINEで、予約・変更・キャンセル・残回数確認がすべて完結。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新しいアプリをダウンロードする必要はありません。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150876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371600" cy="150876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371600" cy="1508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メイリオ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08960"/>
            <a:ext cx="94183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B4A5C"/>
                </a:solidFill>
                <a:latin typeface="メイリオ"/>
                <a:ea typeface="メイリオ"/>
              </a:rPr>
              <a:t>スマホ対応の管理画面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11880"/>
            <a:ext cx="941832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オーナー様はスマホ・タブレット・PCから業務を確認・操作。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お客様のご来店中でも、外出先でもスムーズに対応できます。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17720"/>
            <a:ext cx="11247120" cy="150876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371600" cy="150876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1371600" cy="1508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メイリオ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800600"/>
            <a:ext cx="94183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B4A5C"/>
                </a:solidFill>
                <a:latin typeface="メイリオ"/>
                <a:ea typeface="メイリオ"/>
              </a:rPr>
              <a:t>自動リマインド・自動バックアップ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03520"/>
            <a:ext cx="941832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前日に自動でお客様へリマインドLINE。週次で自動バックアップ。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「うっかり忘れ」も「データ消失」も、仕組みで防ぎます。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顧客体験① LINEで予約完結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お客様はLINEアプリひとつで、24時間いつでも予約できます。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200400" cy="41148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7B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3017520" cy="3657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</a:rPr>
              <a:t>① メニューを開く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30175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777240" cy="73152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7772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予約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971800"/>
            <a:ext cx="777240" cy="73152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971800"/>
            <a:ext cx="7772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変更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971800"/>
            <a:ext cx="777240" cy="731520"/>
          </a:xfrm>
          <a:prstGeom prst="roundRect">
            <a:avLst/>
          </a:prstGeom>
          <a:solidFill>
            <a:srgbClr val="7B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971800"/>
            <a:ext cx="7772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キャンセル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49040"/>
            <a:ext cx="777240" cy="73152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7772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残回数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3749040"/>
            <a:ext cx="777240" cy="73152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3749040"/>
            <a:ext cx="7772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営業日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749040"/>
            <a:ext cx="777240" cy="731520"/>
          </a:xfrm>
          <a:prstGeom prst="roundRect">
            <a:avLst/>
          </a:prstGeom>
          <a:solidFill>
            <a:srgbClr val="7B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3749040"/>
            <a:ext cx="7772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お問合せ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42316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リッチメニュー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7B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</a:rPr>
              <a:t>② 日付を選ぶ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331720"/>
            <a:ext cx="30175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423160"/>
            <a:ext cx="30175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2026年4月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3074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34148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65222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6297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7371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8445" y="2743200"/>
            <a:ext cx="431074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3074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3074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9534F"/>
                </a:solidFill>
                <a:latin typeface="メイリオ"/>
                <a:ea typeface="メイリオ"/>
              </a:rPr>
              <a:t>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34148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4148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5222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65222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6297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6297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888888"/>
                </a:solidFill>
                <a:latin typeface="メイリオ"/>
                <a:ea typeface="メイリオ"/>
              </a:rP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7371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7371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8445" y="29718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8445" y="31363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03074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3074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34148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34148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9534F"/>
                </a:solidFill>
                <a:latin typeface="メイリオ"/>
                <a:ea typeface="メイリオ"/>
              </a:rPr>
              <a:t>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65222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5222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6297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6297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7371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7371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888888"/>
                </a:solidFill>
                <a:latin typeface="メイリオ"/>
                <a:ea typeface="メイリオ"/>
              </a:rPr>
              <a:t>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58445" y="34290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58445" y="35935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888888"/>
                </a:solidFill>
                <a:latin typeface="メイリオ"/>
                <a:ea typeface="メイリオ"/>
              </a:rPr>
              <a:t>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03074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03074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34148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34148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65222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65222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9534F"/>
                </a:solidFill>
                <a:latin typeface="メイリオ"/>
                <a:ea typeface="メイリオ"/>
              </a:rPr>
              <a:t>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6297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96297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7371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7371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8445" y="3886200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333333"/>
                </a:solidFill>
                <a:latin typeface="メイリオ"/>
                <a:ea typeface="メイリオ"/>
              </a:rP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8445" y="4050792"/>
            <a:ext cx="431074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CB85C"/>
                </a:solidFill>
                <a:latin typeface="メイリオ"/>
                <a:ea typeface="メイリオ"/>
              </a:rPr>
              <a:t>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12480" y="1828800"/>
            <a:ext cx="3200400" cy="41148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7B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03920" y="1920240"/>
            <a:ext cx="3017520" cy="3657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20" y="1920240"/>
            <a:ext cx="3017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</a:rPr>
              <a:t>③ 時間を選んで確定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3920" y="2331720"/>
            <a:ext cx="30175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03920" y="2423160"/>
            <a:ext cx="30175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4月8日（水）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41080" y="2788920"/>
            <a:ext cx="2743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10:00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641080" y="3136392"/>
            <a:ext cx="2743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41080" y="3136392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11:00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41080" y="3483864"/>
            <a:ext cx="2743200" cy="274320"/>
          </a:xfrm>
          <a:prstGeom prst="roundRect">
            <a:avLst/>
          </a:prstGeom>
          <a:solidFill>
            <a:srgbClr val="D4688A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3483864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13:00 ✓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41080" y="3831336"/>
            <a:ext cx="2743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41080" y="3831336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14:00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641080" y="4178808"/>
            <a:ext cx="2743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4178808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15:00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41080" y="4526280"/>
            <a:ext cx="2743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41080" y="45262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16:00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3886200" y="3657600"/>
            <a:ext cx="457200" cy="457200"/>
          </a:xfrm>
          <a:prstGeom prst="rightArrow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ight Arrow 97"/>
          <p:cNvSpPr/>
          <p:nvPr/>
        </p:nvSpPr>
        <p:spPr>
          <a:xfrm>
            <a:off x="7818120" y="3657600"/>
            <a:ext cx="457200" cy="457200"/>
          </a:xfrm>
          <a:prstGeom prst="rightArrow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200400" y="6035040"/>
            <a:ext cx="5760720" cy="45720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00400" y="6035040"/>
            <a:ext cx="57607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</a:rPr>
              <a:t>💡 アプリをインストールする必要ナシ！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顧客体験② 予約変更・キャンセル・残回数確認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お客様の「ちょっとした用件」も、LINEで完結します。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2103120"/>
            <a:ext cx="1371600" cy="1371600"/>
          </a:xfrm>
          <a:prstGeom prst="ellipse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103120"/>
            <a:ext cx="1371600" cy="13716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0">
                <a:solidFill>
                  <a:srgbClr val="333333"/>
                </a:solidFill>
                <a:latin typeface="メイリオ"/>
                <a:ea typeface="メイリオ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7B4A5C"/>
                </a:solidFill>
                <a:latin typeface="メイリオ"/>
                <a:ea typeface="メイリオ"/>
              </a:rPr>
              <a:t>予約変更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329184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日時の変更がLINEから可能。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予約確認メッセージの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「変更する」ボタン1タップ。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657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2120" y="2103120"/>
            <a:ext cx="1371600" cy="1371600"/>
          </a:xfrm>
          <a:prstGeom prst="ellipse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103120"/>
            <a:ext cx="1371600" cy="13716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0">
                <a:solidFill>
                  <a:srgbClr val="333333"/>
                </a:solidFill>
                <a:latin typeface="メイリオ"/>
                <a:ea typeface="メイリオ"/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7B4A5C"/>
                </a:solidFill>
                <a:latin typeface="メイリオ"/>
                <a:ea typeface="メイリオ"/>
              </a:rPr>
              <a:t>予約キャンセル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29184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急な用事でもLINEで即キャンセル。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キャンセル料ポリシーも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自動で事前表示。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657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4040" y="2103120"/>
            <a:ext cx="1371600" cy="1371600"/>
          </a:xfrm>
          <a:prstGeom prst="ellipse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103120"/>
            <a:ext cx="1371600" cy="13716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0">
                <a:solidFill>
                  <a:srgbClr val="333333"/>
                </a:solidFill>
                <a:latin typeface="メイリオ"/>
                <a:ea typeface="メイリオ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5760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7B4A5C"/>
                </a:solidFill>
                <a:latin typeface="メイリオ"/>
                <a:ea typeface="メイリオ"/>
              </a:rPr>
              <a:t>コース残回数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06240"/>
            <a:ext cx="329184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「残回数」ボタンで現在の残数を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いつでも確認。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次回予約の目安にも。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760720"/>
            <a:ext cx="9445752" cy="54864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💬 わざわざ電話する必要がない ＝ お客様の満足度UP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オーナー体験① ダッシュボード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本日必要な情報が、ひと目でわかる画面設計。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064240" cy="4480560"/>
          </a:xfrm>
          <a:prstGeom prst="roundRect">
            <a:avLst/>
          </a:prstGeom>
          <a:solidFill>
            <a:srgbClr val="FFF5F7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0881360" cy="45720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9144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</a:rPr>
              <a:t>🌸 〇〇サロン  ダッシュボード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874519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</a:rPr>
              <a:t>2026/04/21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14600"/>
            <a:ext cx="2514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2514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本日の予約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2514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D4688A"/>
                </a:solidFill>
                <a:latin typeface="メイリオ"/>
                <a:ea typeface="メイリオ"/>
              </a:rPr>
              <a:t>5件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514600"/>
            <a:ext cx="2514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606040"/>
            <a:ext cx="2514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今月の売上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71800"/>
            <a:ext cx="2514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D4A574"/>
                </a:solidFill>
                <a:latin typeface="メイリオ"/>
                <a:ea typeface="メイリオ"/>
              </a:rPr>
              <a:t>¥482,000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14600"/>
            <a:ext cx="2514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606040"/>
            <a:ext cx="2514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登録顧客数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71800"/>
            <a:ext cx="2514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7B4A5C"/>
                </a:solidFill>
                <a:latin typeface="メイリオ"/>
                <a:ea typeface="メイリオ"/>
              </a:rPr>
              <a:t>128名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514600"/>
            <a:ext cx="2514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606040"/>
            <a:ext cx="2514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要注意顧客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971800"/>
            <a:ext cx="2514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0A040"/>
                </a:solidFill>
                <a:latin typeface="メイリオ"/>
                <a:ea typeface="メイリオ"/>
              </a:rPr>
              <a:t>3名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840480"/>
            <a:ext cx="6858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840480"/>
            <a:ext cx="6858000" cy="320040"/>
          </a:xfrm>
          <a:prstGeom prst="rect">
            <a:avLst/>
          </a:prstGeom>
          <a:solidFill>
            <a:srgbClr val="FF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40480"/>
            <a:ext cx="6400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B4A5C"/>
                </a:solidFill>
                <a:latin typeface="メイリオ"/>
                <a:ea typeface="メイリオ"/>
              </a:rPr>
              <a:t>📅 本日の予約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06240"/>
            <a:ext cx="1097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688A"/>
                </a:solidFill>
                <a:latin typeface="メイリオ"/>
                <a:ea typeface="メイリオ"/>
              </a:rPr>
              <a:t>10:00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2062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田中 美咲様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06240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カット＋カラー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63440"/>
            <a:ext cx="1097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688A"/>
                </a:solidFill>
                <a:latin typeface="メイリオ"/>
                <a:ea typeface="メイリオ"/>
              </a:rPr>
              <a:t>11:30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6634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佐藤 健一様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663440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フェイシャル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20640"/>
            <a:ext cx="1097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688A"/>
                </a:solidFill>
                <a:latin typeface="メイリオ"/>
                <a:ea typeface="メイリオ"/>
              </a:rPr>
              <a:t>13:00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1206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鈴木 陽子様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20640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コース (残3回)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77840"/>
            <a:ext cx="1097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688A"/>
                </a:solidFill>
                <a:latin typeface="メイリオ"/>
                <a:ea typeface="メイリオ"/>
              </a:rPr>
              <a:t>15:00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57784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高橋 由美様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577840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カット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3840480"/>
            <a:ext cx="3657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B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3886200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CB85C"/>
                </a:solidFill>
                <a:latin typeface="メイリオ"/>
                <a:ea typeface="メイリオ"/>
              </a:rPr>
              <a:t>💾 最新バックアップ 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251960"/>
            <a:ext cx="347472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2026/04/19 05:00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（週次 毎週日曜5時）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4937760"/>
            <a:ext cx="3657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4983480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B4A5C"/>
                </a:solidFill>
                <a:latin typeface="メイリオ"/>
                <a:ea typeface="メイリオ"/>
              </a:rPr>
              <a:t>📊 売上サマリー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349240"/>
            <a:ext cx="347472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今週: ¥128,500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今月: ¥482,000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前月比: +12%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オーナー体験② 顧客管理・コース残回数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残回数が少なくなったお客様を、自動でピックアップ。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7589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7589520" cy="45720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</a:rPr>
              <a:t>👥 顧客一覧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058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顧客ID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77440"/>
            <a:ext cx="2286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お名前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7744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コース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377440"/>
            <a:ext cx="11887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残回数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7744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B4A5C"/>
                </a:solidFill>
                <a:latin typeface="メイリオ"/>
                <a:ea typeface="メイリオ"/>
              </a:rPr>
              <a:t>来店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43200"/>
            <a:ext cx="7498079" cy="41148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432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田中 美咲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7432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フェイシャル10回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816352"/>
            <a:ext cx="822960" cy="274320"/>
          </a:xfrm>
          <a:prstGeom prst="round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8163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8回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7432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5回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2004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佐藤 健一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2004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ボディケア5回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273552"/>
            <a:ext cx="822960" cy="274320"/>
          </a:xfrm>
          <a:prstGeom prst="roundRect">
            <a:avLst/>
          </a:prstGeom>
          <a:solidFill>
            <a:srgbClr val="F0A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735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4回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2004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2回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57600"/>
            <a:ext cx="7498079" cy="41148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6576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鈴木 陽子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6576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ヘアトリートメント10回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730752"/>
            <a:ext cx="822960" cy="274320"/>
          </a:xfrm>
          <a:prstGeom prst="round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7307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1回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6576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8回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148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1148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高橋 由美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1148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カラー5回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4187952"/>
            <a:ext cx="822960" cy="274320"/>
          </a:xfrm>
          <a:prstGeom prst="roundRect">
            <a:avLst/>
          </a:prstGeom>
          <a:solidFill>
            <a:srgbClr val="F0A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1879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3回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1148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3回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572000"/>
            <a:ext cx="7498079" cy="41148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5720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45720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山田 花子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5720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コース終了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4645152"/>
            <a:ext cx="822960" cy="27432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6451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45720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12回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292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50292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伊藤 明子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0292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フェイシャル20回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0" y="5102352"/>
            <a:ext cx="822960" cy="274320"/>
          </a:xfrm>
          <a:prstGeom prst="round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51023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15回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0292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6回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486400"/>
            <a:ext cx="7498079" cy="41148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486400"/>
            <a:ext cx="1005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B4A5C"/>
                </a:solidFill>
                <a:latin typeface="メイリオ"/>
                <a:ea typeface="メイリオ"/>
              </a:rPr>
              <a:t>C007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548640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渡辺 梨花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486400"/>
            <a:ext cx="20116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ボディケア10回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5040" y="5559552"/>
            <a:ext cx="822960" cy="274320"/>
          </a:xfrm>
          <a:prstGeom prst="round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5559552"/>
            <a:ext cx="8229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2回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5486400"/>
            <a:ext cx="914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</a:rPr>
              <a:t>9回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1828800"/>
            <a:ext cx="3474720" cy="2103120"/>
          </a:xfrm>
          <a:prstGeom prst="round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1920240"/>
            <a:ext cx="34747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⚠️ 要フォロー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2377440"/>
            <a:ext cx="329184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</a:rPr>
              <a:t>残り4回以下の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</a:rPr>
              <a:t>お客様が3名います。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</a:rPr>
              <a:t>コース追加のご案内を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</a:rPr>
              <a:t>お忘れなく！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0" y="411480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206240"/>
            <a:ext cx="34747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🏷️ バッジ色の見方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12480" y="4709160"/>
            <a:ext cx="822960" cy="320040"/>
          </a:xfrm>
          <a:prstGeom prst="round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4709160"/>
            <a:ext cx="8229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5回以上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4709160"/>
            <a:ext cx="21945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余裕あり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5166360"/>
            <a:ext cx="822960" cy="320040"/>
          </a:xfrm>
          <a:prstGeom prst="roundRect">
            <a:avLst/>
          </a:prstGeom>
          <a:solidFill>
            <a:srgbClr val="F0A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0" y="5166360"/>
            <a:ext cx="8229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2〜4回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0" y="5166360"/>
            <a:ext cx="21945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そろそろ案内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12480" y="5623560"/>
            <a:ext cx="822960" cy="320040"/>
          </a:xfrm>
          <a:prstGeom prst="round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5623560"/>
            <a:ext cx="8229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1回以下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5623560"/>
            <a:ext cx="21945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要フォロー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オーナー体験③ 売上レポート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月別・日別の売上が、グラフで一目瞭然。CSVでダウンロードも可能。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B4A5C"/>
                </a:solidFill>
                <a:latin typeface="メイリオ"/>
                <a:ea typeface="メイリオ"/>
              </a:rPr>
              <a:t>📊 月別売上（過去12ヶ月）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34256"/>
            <a:ext cx="411480" cy="1152144"/>
          </a:xfrm>
          <a:prstGeom prst="rect">
            <a:avLst/>
          </a:prstGeom>
          <a:solidFill>
            <a:srgbClr val="FF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4155034"/>
            <a:ext cx="411480" cy="1331366"/>
          </a:xfrm>
          <a:prstGeom prst="rect">
            <a:avLst/>
          </a:prstGeom>
          <a:solidFill>
            <a:srgbClr val="FF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65376" y="4257447"/>
            <a:ext cx="411480" cy="1228953"/>
          </a:xfrm>
          <a:prstGeom prst="rect">
            <a:avLst/>
          </a:prstGeom>
          <a:solidFill>
            <a:srgbClr val="FF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6584" y="4078224"/>
            <a:ext cx="411480" cy="1408176"/>
          </a:xfrm>
          <a:prstGeom prst="rect">
            <a:avLst/>
          </a:prstGeom>
          <a:solidFill>
            <a:srgbClr val="FF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8296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07792" y="3950208"/>
            <a:ext cx="411480" cy="1536192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9504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822192"/>
            <a:ext cx="411480" cy="1664208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0208" y="3694176"/>
            <a:ext cx="411480" cy="1792224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71416" y="3386938"/>
            <a:ext cx="411480" cy="2099462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4" y="4001415"/>
            <a:ext cx="411480" cy="1484985"/>
          </a:xfrm>
          <a:prstGeom prst="rect">
            <a:avLst/>
          </a:prstGeom>
          <a:solidFill>
            <a:srgbClr val="FF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4336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13832" y="3899002"/>
            <a:ext cx="411480" cy="1587398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95544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566160"/>
            <a:ext cx="411480" cy="192024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6752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3233319"/>
            <a:ext cx="411480" cy="2253081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532120"/>
            <a:ext cx="448056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468880"/>
            <a:ext cx="320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メイリオ"/>
                <a:ea typeface="メイリオ"/>
              </a:rPr>
              <a:t>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6217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メイリオ"/>
                <a:ea typeface="メイリオ"/>
              </a:rPr>
              <a:t>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828800"/>
            <a:ext cx="4206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192024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B4A5C"/>
                </a:solidFill>
                <a:latin typeface="メイリオ"/>
                <a:ea typeface="メイリオ"/>
              </a:rPr>
              <a:t>📁 支払い履歴ダウンロード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377440"/>
            <a:ext cx="3840480" cy="32004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37744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日付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37744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顧客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37744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金額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2697480"/>
            <a:ext cx="3840480" cy="27432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269748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69748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田中様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69748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¥8,500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990088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2990088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佐藤様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990088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¥12,000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282696"/>
            <a:ext cx="3840480" cy="27432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3282696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3282696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鈴木様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3282696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¥6,000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3575304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575304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高橋様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3575304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¥15,000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3867912"/>
            <a:ext cx="3840480" cy="27432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3867912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3867912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山田様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3867912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¥8,500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416052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416052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伊藤様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416052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¥22,000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4453128"/>
            <a:ext cx="3840480" cy="27432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4453128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04/17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4453128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渡辺様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4453128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¥8,500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5394960"/>
            <a:ext cx="3108960" cy="54864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0" y="5394960"/>
            <a:ext cx="310896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</a:rPr>
              <a:t>⬇ CSVダウンロード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スマホ完全対応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PCでもスマホでも、画面サイズに合わせて自動で最適化。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486400" cy="384048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4937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4937760" cy="27432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1234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日時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514600"/>
            <a:ext cx="1234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顧客名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514600"/>
            <a:ext cx="1234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メニュー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1234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金額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4/21 10:00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3464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田中様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3464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カット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3464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¥5,500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4/21 11:30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15468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佐藤様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15468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カラー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15468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¥12,000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4/21 13:00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47472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鈴木様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47472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フェイシャル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47472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¥8,000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9476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4/21 15:00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79476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高橋様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79476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コース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794760"/>
            <a:ext cx="12344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333333"/>
                </a:solidFill>
                <a:latin typeface="メイリオ"/>
                <a:ea typeface="メイリオ"/>
              </a:rP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5760720"/>
            <a:ext cx="1280160" cy="137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03120" y="5897880"/>
            <a:ext cx="2377440" cy="914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B4A5C"/>
                </a:solidFill>
                <a:latin typeface="メイリオ"/>
                <a:ea typeface="メイリオ"/>
              </a:rPr>
              <a:t>PC：広々と一覧表示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828800"/>
            <a:ext cx="2560320" cy="42062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2057400"/>
            <a:ext cx="237744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057400"/>
            <a:ext cx="2377440" cy="27432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057400"/>
            <a:ext cx="237744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予約一覧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2423160"/>
            <a:ext cx="2194560" cy="731520"/>
          </a:xfrm>
          <a:prstGeom prst="roundRect">
            <a:avLst/>
          </a:prstGeom>
          <a:solidFill>
            <a:srgbClr val="FFF5F7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46888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4/21 10:00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697480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田中様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898648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カット ¥5,500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227832"/>
            <a:ext cx="2194560" cy="731520"/>
          </a:xfrm>
          <a:prstGeom prst="roundRect">
            <a:avLst/>
          </a:prstGeom>
          <a:solidFill>
            <a:srgbClr val="FFF5F7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273552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4/21 12:00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502152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佐藤様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703320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カラー ¥12,000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4032504"/>
            <a:ext cx="2194560" cy="731520"/>
          </a:xfrm>
          <a:prstGeom prst="roundRect">
            <a:avLst/>
          </a:prstGeom>
          <a:solidFill>
            <a:srgbClr val="FFF5F7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078224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4/21 14:00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306824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鈴木様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507992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フェイシャル ¥8,000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4837176"/>
            <a:ext cx="2194560" cy="731520"/>
          </a:xfrm>
          <a:prstGeom prst="roundRect">
            <a:avLst/>
          </a:prstGeom>
          <a:solidFill>
            <a:srgbClr val="FFF5F7"/>
          </a:solidFill>
          <a:ln w="9525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882896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B4A5C"/>
                </a:solidFill>
                <a:latin typeface="メイリオ"/>
                <a:ea typeface="メイリオ"/>
              </a:rPr>
              <a:t>4/21 16:00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111496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3333"/>
                </a:solidFill>
                <a:latin typeface="メイリオ"/>
                <a:ea typeface="メイリオ"/>
              </a:rPr>
              <a:t>高橋様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312664"/>
            <a:ext cx="21031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</a:rPr>
              <a:t>コース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6172200"/>
            <a:ext cx="2560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B4A5C"/>
                </a:solidFill>
                <a:latin typeface="メイリオ"/>
                <a:ea typeface="メイリオ"/>
              </a:rPr>
              <a:t>スマホ：カード型に自動変換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400800" y="3474720"/>
            <a:ext cx="1554480" cy="73152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3474720"/>
            <a:ext cx="155448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</a:rPr>
              <a:t>自動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</a:rPr>
              <a:t>切替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自動リマインド &amp; 自動バックアップ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「うっかり」と「もしもの時」から、サロンを守る仕組み。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577840" cy="4114800"/>
          </a:xfrm>
          <a:prstGeom prst="roundRect">
            <a:avLst/>
          </a:prstGeom>
          <a:solidFill>
            <a:srgbClr val="FFF5F7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303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688A"/>
                </a:solidFill>
                <a:latin typeface="メイリオ"/>
                <a:ea typeface="メイリオ"/>
              </a:rPr>
              <a:t>⏰ 前日リマインド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B4A5C"/>
                </a:solidFill>
                <a:latin typeface="メイリオ"/>
                <a:ea typeface="メイリオ"/>
              </a:rPr>
              <a:t>お客様のLINEに自動でメッセージ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47548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457200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〇〇サロンです🌸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明日 4/22（金）14:00 から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カット＋カラーのご予約を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お待ちしております。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変更・キャンセルはメニューから。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5212080" cy="1051560"/>
          </a:xfrm>
          <a:prstGeom prst="round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212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</a:rPr>
              <a:t>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521208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</a:rPr>
              <a:t>無断キャンセル激減 → 機会損失を防止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5486400" cy="4114800"/>
          </a:xfrm>
          <a:prstGeom prst="roundRect">
            <a:avLst/>
          </a:prstGeom>
          <a:solidFill>
            <a:srgbClr val="FFF5F7"/>
          </a:solidFill>
          <a:ln w="2540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52120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4A574"/>
                </a:solidFill>
                <a:latin typeface="メイリオ"/>
                <a:ea typeface="メイリオ"/>
              </a:rPr>
              <a:t>💾 週次バックアップ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5212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B4A5C"/>
                </a:solidFill>
                <a:latin typeface="メイリオ"/>
                <a:ea typeface="メイリオ"/>
              </a:rPr>
              <a:t>毎週日曜5時、自動でデータを保管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926080"/>
            <a:ext cx="640080" cy="82296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</a:rPr>
              <a:t>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4612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</a:rPr>
              <a:t>5:00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926080"/>
            <a:ext cx="640080" cy="82296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88888"/>
                </a:solidFill>
                <a:latin typeface="メイリオ"/>
                <a:ea typeface="メイリオ"/>
              </a:rPr>
              <a:t>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926080"/>
            <a:ext cx="640080" cy="82296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88888"/>
                </a:solidFill>
                <a:latin typeface="メイリオ"/>
                <a:ea typeface="メイリオ"/>
              </a:rPr>
              <a:t>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2926080"/>
            <a:ext cx="640080" cy="82296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88888"/>
                </a:solidFill>
                <a:latin typeface="メイリオ"/>
                <a:ea typeface="メイリオ"/>
              </a:rPr>
              <a:t>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2926080"/>
            <a:ext cx="640080" cy="82296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88888"/>
                </a:solidFill>
                <a:latin typeface="メイリオ"/>
                <a:ea typeface="メイリオ"/>
              </a:rPr>
              <a:t>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60" y="2926080"/>
            <a:ext cx="640080" cy="82296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88888"/>
                </a:solidFill>
                <a:latin typeface="メイリオ"/>
                <a:ea typeface="メイリオ"/>
              </a:rPr>
              <a:t>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27080" y="2926080"/>
            <a:ext cx="640080" cy="82296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27080" y="2971800"/>
            <a:ext cx="640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88888"/>
                </a:solidFill>
                <a:latin typeface="メイリオ"/>
                <a:ea typeface="メイリオ"/>
              </a:rPr>
              <a:t>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86200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→ ダッシュボードに「最新バックアップ✓」表示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297680"/>
            <a:ext cx="48463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B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297680"/>
            <a:ext cx="48463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CB85C"/>
                </a:solidFill>
                <a:latin typeface="メイリオ"/>
                <a:ea typeface="メイリオ"/>
              </a:rPr>
              <a:t>✓ 2026/04/19 05:00 バックアップ完了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846320"/>
            <a:ext cx="5212080" cy="91440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846320"/>
            <a:ext cx="5212080" cy="9144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💡 データ消失の心配なし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</a:rPr>
              <a:t>いつでも過去30日分から復元可能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セキュリティ対策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大切なお客様情報を、しっかり守る4つの仕組み。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669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103120"/>
            <a:ext cx="1280160" cy="128016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28016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>
                <a:solidFill>
                  <a:srgbClr val="333333"/>
                </a:solidFill>
                <a:latin typeface="メイリオ"/>
                <a:ea typeface="メイリオ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03120"/>
            <a:ext cx="3840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パスワードはハッシュ化保存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06040"/>
            <a:ext cx="39319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万一データが見られても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パスワードは復元不可能な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形で保管されます。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5669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103120"/>
            <a:ext cx="1280160" cy="128016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128016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>
                <a:solidFill>
                  <a:srgbClr val="333333"/>
                </a:solidFill>
                <a:latin typeface="メイリオ"/>
                <a:ea typeface="メイリオ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03120"/>
            <a:ext cx="3840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通信は暗号化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606040"/>
            <a:ext cx="39319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LINE・管理画面とサーバー間の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すべての通信を暗号化。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盗聴される心配はありません。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5669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297680"/>
            <a:ext cx="1280160" cy="128016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28016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>
                <a:solidFill>
                  <a:srgbClr val="333333"/>
                </a:solidFill>
                <a:latin typeface="メイリオ"/>
                <a:ea typeface="メイリオ"/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297680"/>
            <a:ext cx="3840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共有PCでも安心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800600"/>
            <a:ext cx="39319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ログイン情報は保存せず、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ブラウザを閉じれば自動ログアウト。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店舗の共用PCでも使えます。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023360"/>
            <a:ext cx="5669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4297680"/>
            <a:ext cx="1280160" cy="128016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128016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0">
                <a:solidFill>
                  <a:srgbClr val="333333"/>
                </a:solidFill>
                <a:latin typeface="メイリオ"/>
                <a:ea typeface="メイリオ"/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297680"/>
            <a:ext cx="3840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全操作ログ記録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800600"/>
            <a:ext cx="39319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「誰がいつ何をしたか」を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自動で記録。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トラブル時の追跡が可能です。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他システムとの違い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コスト・柔軟性・データ所有権。すべてサロン側のメリットを追求。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  <a:gridCol w="36576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D468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当システム</a:t>
                      </a:r>
                    </a:p>
                  </a:txBody>
                  <a:tcPr anchor="ctr">
                    <a:solidFill>
                      <a:srgbClr val="D468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大手予約サイト</a:t>
                      </a:r>
                    </a:p>
                  </a:txBody>
                  <a:tcPr anchor="ctr">
                    <a:solidFill>
                      <a:srgbClr val="D4688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7B4A5C"/>
                          </a:solidFill>
                          <a:latin typeface="メイリオ"/>
                          <a:ea typeface="メイリオ"/>
                        </a:rPr>
                        <a:t>月額固定費</a:t>
                      </a:r>
                    </a:p>
                  </a:txBody>
                  <a:tcPr anchor="ctr">
                    <a:solidFill>
                      <a:srgbClr val="FFE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D4688A"/>
                          </a:solidFill>
                          <a:latin typeface="メイリオ"/>
                          <a:ea typeface="メイリオ"/>
                        </a:rPr>
                        <a:t>要相談（変動なし）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888888"/>
                          </a:solidFill>
                          <a:latin typeface="メイリオ"/>
                          <a:ea typeface="メイリオ"/>
                        </a:rPr>
                        <a:t>高額 ＋ 手数料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7B4A5C"/>
                          </a:solidFill>
                          <a:latin typeface="メイリオ"/>
                          <a:ea typeface="メイリオ"/>
                        </a:rPr>
                        <a:t>LINE連携</a:t>
                      </a:r>
                    </a:p>
                  </a:txBody>
                  <a:tcPr anchor="ctr">
                    <a:solidFill>
                      <a:srgbClr val="FFE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D4688A"/>
                          </a:solidFill>
                          <a:latin typeface="メイリオ"/>
                          <a:ea typeface="メイリオ"/>
                        </a:rPr>
                        <a:t>標準搭載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888888"/>
                          </a:solidFill>
                          <a:latin typeface="メイリオ"/>
                          <a:ea typeface="メイリオ"/>
                        </a:rPr>
                        <a:t>オプション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7B4A5C"/>
                          </a:solidFill>
                          <a:latin typeface="メイリオ"/>
                          <a:ea typeface="メイリオ"/>
                        </a:rPr>
                        <a:t>カスタマイズ
（店舗名・文言・料金）</a:t>
                      </a:r>
                    </a:p>
                  </a:txBody>
                  <a:tcPr anchor="ctr">
                    <a:solidFill>
                      <a:srgbClr val="FFE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D4688A"/>
                          </a:solidFill>
                          <a:latin typeface="メイリオ"/>
                          <a:ea typeface="メイリオ"/>
                        </a:rPr>
                        <a:t>自由に変更可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888888"/>
                          </a:solidFill>
                          <a:latin typeface="メイリオ"/>
                          <a:ea typeface="メイリオ"/>
                        </a:rPr>
                        <a:t>制限あり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7B4A5C"/>
                          </a:solidFill>
                          <a:latin typeface="メイリオ"/>
                          <a:ea typeface="メイリオ"/>
                        </a:rPr>
                        <a:t>データ所有</a:t>
                      </a:r>
                    </a:p>
                  </a:txBody>
                  <a:tcPr anchor="ctr">
                    <a:solidFill>
                      <a:srgbClr val="FFE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D4688A"/>
                          </a:solidFill>
                          <a:latin typeface="メイリオ"/>
                          <a:ea typeface="メイリオ"/>
                        </a:rPr>
                        <a:t>サロン側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888888"/>
                          </a:solidFill>
                          <a:latin typeface="メイリオ"/>
                          <a:ea typeface="メイリオ"/>
                        </a:rPr>
                        <a:t>事業者側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7B4A5C"/>
                          </a:solidFill>
                          <a:latin typeface="メイリオ"/>
                          <a:ea typeface="メイリオ"/>
                        </a:rPr>
                        <a:t>予約手数料</a:t>
                      </a:r>
                    </a:p>
                  </a:txBody>
                  <a:tcPr anchor="ctr">
                    <a:solidFill>
                      <a:srgbClr val="FFE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D4688A"/>
                          </a:solidFill>
                          <a:latin typeface="メイリオ"/>
                          <a:ea typeface="メイリオ"/>
                        </a:rPr>
                        <a:t>なし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888888"/>
                          </a:solidFill>
                          <a:latin typeface="メイリオ"/>
                          <a:ea typeface="メイリオ"/>
                        </a:rPr>
                        <a:t>1件ごとに課金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メイリオ"/>
                <a:ea typeface="メイリオ"/>
              </a:rPr>
              <a:t>※ 上記は一般的な比較です。具体的な金額・条件は個別にご相談ください。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導入の流れ（4週間）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お申込みから運用開始まで、およそ4週間で完了します。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1828800"/>
            <a:ext cx="822960" cy="822960"/>
          </a:xfrm>
          <a:prstGeom prst="ellipse">
            <a:avLst/>
          </a:prstGeom>
          <a:solidFill>
            <a:srgbClr val="D4688A"/>
          </a:solidFill>
          <a:ln w="317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828800"/>
            <a:ext cx="8229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メイリオ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34640"/>
            <a:ext cx="2743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2608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4A574"/>
                </a:solidFill>
                <a:latin typeface="Arial"/>
                <a:ea typeface="メイリオ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27432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ヒアリング &amp; 環境準備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468880" cy="2011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サロン様の業務フローをお伺いし、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Googleアカウント・LINE公式アカウント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の準備をサポート。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54680" y="4114800"/>
            <a:ext cx="182880" cy="36576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828800"/>
            <a:ext cx="822960" cy="822960"/>
          </a:xfrm>
          <a:prstGeom prst="ellipse">
            <a:avLst/>
          </a:prstGeom>
          <a:solidFill>
            <a:srgbClr val="D4688A"/>
          </a:solidFill>
          <a:ln w="317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8229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メイリオ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834640"/>
            <a:ext cx="2743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4A574"/>
                </a:solidFill>
                <a:latin typeface="Arial"/>
                <a:ea typeface="メイリオ"/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37560"/>
            <a:ext cx="27432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LINE公式アカウント連携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23360"/>
            <a:ext cx="2468880" cy="2011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予約メニュー・リッチメニューの設定、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サロン専用の挨拶メッセージや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キャンセルポリシーを登録。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35040" y="4114800"/>
            <a:ext cx="182880" cy="36576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1828800"/>
            <a:ext cx="822960" cy="822960"/>
          </a:xfrm>
          <a:prstGeom prst="ellipse">
            <a:avLst/>
          </a:prstGeom>
          <a:solidFill>
            <a:srgbClr val="D4688A"/>
          </a:solidFill>
          <a:ln w="317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828800"/>
            <a:ext cx="8229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メイリオ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834640"/>
            <a:ext cx="2743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92608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4A574"/>
                </a:solidFill>
                <a:latin typeface="Arial"/>
                <a:ea typeface="メイリオ"/>
              </a:rP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337560"/>
            <a:ext cx="27432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初期データ移行・動作確認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23360"/>
            <a:ext cx="2468880" cy="2011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既存顧客データの取り込み、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メニュー・コース料金の登録、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テスト予約での動作確認。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15400" y="4114800"/>
            <a:ext cx="182880" cy="36576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399" y="1828800"/>
            <a:ext cx="822960" cy="822960"/>
          </a:xfrm>
          <a:prstGeom prst="ellipse">
            <a:avLst/>
          </a:prstGeom>
          <a:solidFill>
            <a:srgbClr val="D4688A"/>
          </a:solidFill>
          <a:ln w="317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399" y="1828800"/>
            <a:ext cx="8229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メイリオ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2834640"/>
            <a:ext cx="2743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59" y="292608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4A574"/>
                </a:solidFill>
                <a:latin typeface="Arial"/>
                <a:ea typeface="メイリオ"/>
              </a:rPr>
              <a:t>Week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3337560"/>
            <a:ext cx="27432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運用開始 &amp; 操作研修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4023360"/>
            <a:ext cx="2468880" cy="2011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オンライン研修（管理画面・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よくある操作）を実施。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本格運用スタート後もサポート継続。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メイリオ"/>
                <a:ea typeface="メイリオ"/>
              </a:rPr>
              <a:t>※ サロン様のご都合やデータ量により、期間は前後する場合があります。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料金プラン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サロン様の規模・ご要望に合わせて、個別にお見積もりいたします。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6576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333333"/>
                </a:solidFill>
                <a:latin typeface="メイリオ"/>
                <a:ea typeface="メイリオ"/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7B4A5C"/>
                </a:solidFill>
                <a:latin typeface="メイリオ"/>
                <a:ea typeface="メイリオ"/>
              </a:rPr>
              <a:t>初期費用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20440"/>
            <a:ext cx="2743200" cy="90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36576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D4688A"/>
                </a:solidFill>
                <a:latin typeface="メイリオ"/>
                <a:ea typeface="メイリオ"/>
              </a:rPr>
              <a:t>要相談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環境構築・初期設定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LINE公式アカウント連携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既存データ移行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オンライン研修1回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657600" cy="4114800"/>
          </a:xfrm>
          <a:prstGeom prst="roundRect">
            <a:avLst/>
          </a:prstGeom>
          <a:solidFill>
            <a:srgbClr val="D4688A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03120"/>
            <a:ext cx="36576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333333"/>
                </a:solidFill>
                <a:latin typeface="メイリオ"/>
                <a:ea typeface="メイリオ"/>
              </a:rP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1752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月額保守費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520440"/>
            <a:ext cx="2743200" cy="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657600"/>
            <a:ext cx="36576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メイリオ"/>
                <a:ea typeface="メイリオ"/>
              </a:rPr>
              <a:t>要相談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8056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</a:rPr>
              <a:t>• システム稼働監視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</a:rPr>
              <a:t>• データバックアップ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</a:rPr>
              <a:t>• LINE・メールサポート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</a:rPr>
              <a:t>• 軽微な修正対応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82880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6576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333333"/>
                </a:solidFill>
                <a:latin typeface="メイリオ"/>
                <a:ea typeface="メイリオ"/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1752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7B4A5C"/>
                </a:solidFill>
                <a:latin typeface="メイリオ"/>
                <a:ea typeface="メイリオ"/>
              </a:rPr>
              <a:t>オプション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520440"/>
            <a:ext cx="2743200" cy="90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36576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D4688A"/>
                </a:solidFill>
                <a:latin typeface="メイリオ"/>
                <a:ea typeface="メイリオ"/>
              </a:rPr>
              <a:t>要相談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8056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カスタマイズ開発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追加研修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繁忙期サポート強化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• 複数店舗対応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6080760"/>
            <a:ext cx="8503920" cy="365760"/>
          </a:xfrm>
          <a:prstGeom prst="round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6080760"/>
            <a:ext cx="85039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B4A5C"/>
                </a:solidFill>
                <a:latin typeface="メイリオ"/>
                <a:ea typeface="メイリオ"/>
              </a:rPr>
              <a:t>※ 個別見積もりいたします。お気軽にご相談ください。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サポート体制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導入後も安心の4段階サポート。困った時はいつでもご相談ください。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669280" cy="201168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240280"/>
            <a:ext cx="1188720" cy="11887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1188720" cy="11887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333333"/>
                </a:solidFill>
                <a:latin typeface="メイリオ"/>
                <a:ea typeface="メイリオ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01168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A574"/>
                </a:solidFill>
                <a:latin typeface="メイリオ"/>
                <a:ea typeface="メイリオ"/>
              </a:rPr>
              <a:t>導入時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31720"/>
            <a:ext cx="3931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設定代行 ＋ オンライン研修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34640"/>
            <a:ext cx="40233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初期設定を代行し、管理画面の操作方法を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オンライン（画面共有）で丁寧にご説明。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5669280" cy="201168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2240280"/>
            <a:ext cx="1188720" cy="11887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1188720" cy="11887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333333"/>
                </a:solidFill>
                <a:latin typeface="メイリオ"/>
                <a:ea typeface="メイリオ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01168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A574"/>
                </a:solidFill>
                <a:latin typeface="メイリオ"/>
                <a:ea typeface="メイリオ"/>
              </a:rPr>
              <a:t>運用開始後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331720"/>
            <a:ext cx="3931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LINE・メールサポート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834640"/>
            <a:ext cx="40233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ご不明点はLINEまたはメールで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24時間受付。営業日に順次回答します。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5669280" cy="201168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434840"/>
            <a:ext cx="1188720" cy="11887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188720" cy="11887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333333"/>
                </a:solidFill>
                <a:latin typeface="メイリオ"/>
                <a:ea typeface="メイリオ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20624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A574"/>
                </a:solidFill>
                <a:latin typeface="メイリオ"/>
                <a:ea typeface="メイリオ"/>
              </a:rPr>
              <a:t>月次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526280"/>
            <a:ext cx="3931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運用状況の確認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029200"/>
            <a:ext cx="40233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月1回、予約件数・売上・稼働状況を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レポートとしてご報告。改善提案も。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23360"/>
            <a:ext cx="5669280" cy="2011680"/>
          </a:xfrm>
          <a:prstGeom prst="roundRect">
            <a:avLst/>
          </a:prstGeom>
          <a:solidFill>
            <a:srgbClr val="FFF5F7"/>
          </a:solidFill>
          <a:ln w="1905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60" y="4434840"/>
            <a:ext cx="1188720" cy="11887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434840"/>
            <a:ext cx="1188720" cy="11887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333333"/>
                </a:solidFill>
                <a:latin typeface="メイリオ"/>
                <a:ea typeface="メイリオ"/>
              </a:rPr>
              <a:t>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206240"/>
            <a:ext cx="3931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A574"/>
                </a:solidFill>
                <a:latin typeface="メイリオ"/>
                <a:ea typeface="メイリオ"/>
              </a:rPr>
              <a:t>緊急時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526280"/>
            <a:ext cx="3931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B4A5C"/>
                </a:solidFill>
                <a:latin typeface="メイリオ"/>
                <a:ea typeface="メイリオ"/>
              </a:rPr>
              <a:t>障害対応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029200"/>
            <a:ext cx="40233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システム停止や重大な不具合発生時は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優先対応。復旧までの情報共有も密に。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よくあるご質問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B4A5C"/>
                </a:solidFill>
                <a:latin typeface="メイリオ"/>
                <a:ea typeface="メイリオ"/>
              </a:rPr>
              <a:t>導入前によくいただくご質問をまとめました。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548640" cy="36576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操作が難しそうで不安です。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548640" cy="36576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0312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ご心配いりません。導入時にマニュアルをお渡しし、オンライン研修で実際に操作しながらご説明します。運用開始後もいつでも質問OK。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24328"/>
            <a:ext cx="548640" cy="36576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24328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24328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データはどこに保管されますか？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35808"/>
            <a:ext cx="548640" cy="36576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035808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Google社のクラウド（Googleドライブ）上に、オーナー様のアカウントで保管されます。データの所有権は完全にサロン様にあります。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57016"/>
            <a:ext cx="548640" cy="36576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57016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57016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既存の顧客データはどうなりますか？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68496"/>
            <a:ext cx="548640" cy="36576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68496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68496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エクセル・CSVで書き出せる形式であれば、一括でインポートできます。移行作業は弊社で代行しますのでご安心ください。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9704"/>
            <a:ext cx="548640" cy="36576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89704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89704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途中で解約したくなったら？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01184"/>
            <a:ext cx="548640" cy="36576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01184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01184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データはそのまま保持され、サロン様のGoogleアカウントに残ります。いつでも内容を確認・ダウンロードしていただけます。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22392"/>
            <a:ext cx="548640" cy="365760"/>
          </a:xfrm>
          <a:prstGeom prst="round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22392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422392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B4A5C"/>
                </a:solidFill>
                <a:latin typeface="メイリオ"/>
                <a:ea typeface="メイリオ"/>
              </a:rPr>
              <a:t>月の予約件数に制限はありますか？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33872"/>
            <a:ext cx="548640" cy="365760"/>
          </a:xfrm>
          <a:prstGeom prst="round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833872"/>
            <a:ext cx="548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メイリオ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833872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</a:rPr>
              <a:t>システム自体に件数上限はありません。LINE公式アカウントの無料枠を超える規模の場合は、有料プランへの移行をご相談いたします。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お客様の声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導入いただいたサロン様からのコメントをご紹介します。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0">
                <a:solidFill>
                  <a:srgbClr val="333333"/>
                </a:solidFill>
                <a:latin typeface="メイリオ"/>
                <a:ea typeface="メイリオ"/>
              </a:rPr>
              <a:t>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D4A574"/>
                </a:solidFill>
                <a:latin typeface="メイリオ"/>
                <a:ea typeface="メイリオ"/>
              </a:rPr>
              <a:t>★★★★★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B4A5C"/>
                </a:solidFill>
                <a:latin typeface="メイリオ"/>
                <a:ea typeface="メイリオ"/>
              </a:rPr>
              <a:t>サロンA様（ヘアサロン）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3108960" cy="1828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「導入1ヶ月で、無断キャンセルが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半分以下に減りました。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前日リマインドの効果は絶大です。」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0">
                <a:solidFill>
                  <a:srgbClr val="333333"/>
                </a:solidFill>
                <a:latin typeface="メイリオ"/>
                <a:ea typeface="メイリオ"/>
              </a:rP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0896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D4A574"/>
                </a:solidFill>
                <a:latin typeface="メイリオ"/>
                <a:ea typeface="メイリオ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B4A5C"/>
                </a:solidFill>
                <a:latin typeface="メイリオ"/>
                <a:ea typeface="メイリオ"/>
              </a:rPr>
              <a:t>サロンB様（エステ）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40"/>
            <a:ext cx="3108960" cy="1828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「お客様から『LINEで予約できて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便利』と好評。新規のご予約も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月30％増加しました。」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657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0">
                <a:solidFill>
                  <a:srgbClr val="333333"/>
                </a:solidFill>
                <a:latin typeface="メイリオ"/>
                <a:ea typeface="メイリオ"/>
              </a:rPr>
              <a:t>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D4A574"/>
                </a:solidFill>
                <a:latin typeface="メイリオ"/>
                <a:ea typeface="メイリオ"/>
              </a:rP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52044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B4A5C"/>
                </a:solidFill>
                <a:latin typeface="メイリオ"/>
                <a:ea typeface="メイリオ"/>
              </a:rPr>
              <a:t>サロンC様（ネイル）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977640"/>
            <a:ext cx="3108960" cy="1828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「残回数が可視化されたことで、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コース追加のご案内が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自然にできるようになりました。」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メイリオ"/>
                <a:ea typeface="メイリオ"/>
              </a:rPr>
              <a:t>※ 上記はイメージです。実際の導入事例は、ご要望に応じて個別にご紹介いたします。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D46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0584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7B4A5C"/>
                </a:solidFill>
                <a:latin typeface="メイリオ"/>
                <a:ea typeface="メイリオ"/>
              </a:rPr>
              <a:t>導入までの次のステップ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B4A5C"/>
                </a:solidFill>
                <a:latin typeface="メイリオ"/>
                <a:ea typeface="メイリオ"/>
              </a:rPr>
              <a:t>たった5ステップで、新しいサロン運営が始まります。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2456" y="1920240"/>
            <a:ext cx="18000" cy="420624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D468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73152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メイリオ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828800"/>
            <a:ext cx="960120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828800"/>
            <a:ext cx="320040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7B4A5C"/>
                </a:solidFill>
                <a:latin typeface="メイリオ"/>
                <a:ea typeface="メイリオ"/>
              </a:rPr>
              <a:t>本資料ご確認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828800"/>
            <a:ext cx="60350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まずはこの資料をゆっくりご確認ください。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2697480"/>
            <a:ext cx="731520" cy="731520"/>
          </a:xfrm>
          <a:prstGeom prst="ellipse">
            <a:avLst/>
          </a:prstGeom>
          <a:solidFill>
            <a:srgbClr val="D468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97480"/>
            <a:ext cx="73152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2697480"/>
            <a:ext cx="960120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697480"/>
            <a:ext cx="320040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7B4A5C"/>
                </a:solidFill>
                <a:latin typeface="メイリオ"/>
                <a:ea typeface="メイリオ"/>
              </a:rPr>
              <a:t>ヒアリング（30分無料）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697480"/>
            <a:ext cx="60350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オンラインまたは訪問で、現状の課題をお伺いします。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3566160"/>
            <a:ext cx="731520" cy="731520"/>
          </a:xfrm>
          <a:prstGeom prst="ellipse">
            <a:avLst/>
          </a:prstGeom>
          <a:solidFill>
            <a:srgbClr val="D468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73152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メイリオ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3566160"/>
            <a:ext cx="960120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566160"/>
            <a:ext cx="320040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7B4A5C"/>
                </a:solidFill>
                <a:latin typeface="メイリオ"/>
                <a:ea typeface="メイリオ"/>
              </a:rPr>
              <a:t>お見積り提示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566160"/>
            <a:ext cx="60350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サロン様に最適なプラン・金額をご提案。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" y="4434840"/>
            <a:ext cx="731520" cy="731520"/>
          </a:xfrm>
          <a:prstGeom prst="ellipse">
            <a:avLst/>
          </a:prstGeom>
          <a:solidFill>
            <a:srgbClr val="D468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73152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メイリオ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4434840"/>
            <a:ext cx="960120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434840"/>
            <a:ext cx="320040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7B4A5C"/>
                </a:solidFill>
                <a:latin typeface="メイリオ"/>
                <a:ea typeface="メイリオ"/>
              </a:rPr>
              <a:t>ご契約・初期設定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434840"/>
            <a:ext cx="60350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ご契約後、4週間で環境構築・データ移行を実施。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" y="5303520"/>
            <a:ext cx="731520" cy="731520"/>
          </a:xfrm>
          <a:prstGeom prst="ellipse">
            <a:avLst/>
          </a:prstGeom>
          <a:solidFill>
            <a:srgbClr val="D468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03520"/>
            <a:ext cx="73152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メイリオ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5303520"/>
            <a:ext cx="9601200" cy="731520"/>
          </a:xfrm>
          <a:prstGeom prst="roundRect">
            <a:avLst/>
          </a:prstGeom>
          <a:solidFill>
            <a:srgbClr val="FFF5F7"/>
          </a:solidFill>
          <a:ln w="127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5303520"/>
            <a:ext cx="320040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7B4A5C"/>
                </a:solidFill>
                <a:latin typeface="メイリオ"/>
                <a:ea typeface="メイリオ"/>
              </a:rPr>
              <a:t>運用開始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5303520"/>
            <a:ext cx="6035040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</a:rPr>
              <a:t>操作研修を経て、本格運用スタート！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サロン顧客管理システム ご提案資料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6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0152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7B4A5C"/>
                </a:solidFill>
                <a:latin typeface="メイリオ"/>
                <a:ea typeface="メイリオ"/>
              </a:rPr>
              <a:t>まずはお気軽にご相談ください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D4A574"/>
                </a:solidFill>
                <a:latin typeface="Arial"/>
                <a:ea typeface="メイリオ"/>
              </a:rPr>
              <a:t>Contact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468880"/>
            <a:ext cx="758952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6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74320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担当者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063240"/>
            <a:ext cx="7589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7B4A5C"/>
                </a:solidFill>
                <a:latin typeface="メイリオ"/>
                <a:ea typeface="メイリオ"/>
              </a:rPr>
              <a:t>〇〇 〇〇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657600"/>
            <a:ext cx="4846320" cy="90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79476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D4688A"/>
                </a:solidFill>
                <a:latin typeface="メイリオ"/>
                <a:ea typeface="メイリオ"/>
              </a:rPr>
              <a:t>📧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1480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33333"/>
                </a:solidFill>
                <a:latin typeface="Arial"/>
                <a:ea typeface="メイリオ"/>
              </a:rPr>
              <a:t>xxxxx@example.com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66344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D4688A"/>
                </a:solidFill>
                <a:latin typeface="メイリオ"/>
                <a:ea typeface="メイリオ"/>
              </a:rPr>
              <a:t>📞 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98348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33333"/>
                </a:solidFill>
                <a:latin typeface="Arial"/>
                <a:ea typeface="メイリオ"/>
              </a:rPr>
              <a:t>000-0000-0000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53212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8888"/>
                </a:solidFill>
                <a:latin typeface="メイリオ"/>
                <a:ea typeface="メイリオ"/>
              </a:rPr>
              <a:t>営業時間: 平日 10:00〜18:00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D4688A"/>
                </a:solidFill>
                <a:latin typeface="Arial"/>
                <a:ea typeface="メイリオ"/>
              </a:rPr>
              <a:t>🌸 Thank you 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