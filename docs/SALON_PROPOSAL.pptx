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184648" y="1097280"/>
            <a:ext cx="1828800" cy="182880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84648" y="1097280"/>
            <a:ext cx="1828800" cy="1828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7200" b="0">
                <a:solidFill>
                  <a:srgbClr val="FFFFFF"/>
                </a:solidFill>
                <a:latin typeface="メイリオ"/>
                <a:ea typeface="メイリオ"/>
              </a:rPr>
              <a:t>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60152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7B4A5C"/>
                </a:solidFill>
                <a:latin typeface="メイリオ"/>
                <a:ea typeface="メイリオ"/>
              </a:rPr>
              <a:t>LINEで予約が完結する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360152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D4688A"/>
                </a:solidFill>
                <a:latin typeface="メイリオ"/>
                <a:ea typeface="メイリオ"/>
              </a:rPr>
              <a:t>サロン顧客管理システム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360152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7B4A5C"/>
                </a:solidFill>
                <a:latin typeface="メイリオ"/>
                <a:ea typeface="メイリオ"/>
              </a:rPr>
              <a:t>オーナー様向け ご提案資料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60152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88888"/>
                </a:solidFill>
                <a:latin typeface="メイリオ"/>
                <a:ea typeface="メイリオ"/>
              </a:rPr>
              <a:t>Version 1.0  |  2026.XX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こんなお悩みありませんか？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B4A5C"/>
                </a:solidFill>
                <a:latin typeface="メイリオ"/>
                <a:ea typeface="メイリオ"/>
              </a:rPr>
              <a:t>一つでも当てはまれば、このシステムで解決できます。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8720" y="199339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94767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82880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予約の電話・LINEメッセージ対応に追われている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69748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286207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81635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9748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無断キャンセルや常連の予約忘れが多い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56616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8720" y="373075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68503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56616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顧客ごとのコース残回数の管理が大変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43484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8720" y="459943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55371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43484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エクセル管理でデータが散らばっている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30352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546811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42239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530352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スマホで業務確認したいが既存システムは重い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このシステムが解決します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1371600"/>
            <a:ext cx="9445752" cy="109728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371600"/>
            <a:ext cx="944575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</a:rPr>
              <a:t>予約・顧客・ポイント・売上。すべてを一つに。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3657600" cy="301752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LINE予約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24時間いつでも受付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アプリ不要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926080"/>
            <a:ext cx="3657600" cy="301752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320040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4206240"/>
            <a:ext cx="36576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管理画面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48463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スマホ・PC対応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どこでも確認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926080"/>
            <a:ext cx="3657600" cy="301752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320040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6576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自動化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463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リマインド・バックアップ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手間なし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3つの特徴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34440"/>
            <a:ext cx="11247120" cy="150876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1371600" cy="150876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371600" cy="1508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メイリオ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417320"/>
            <a:ext cx="94183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7B4A5C"/>
                </a:solidFill>
                <a:latin typeface="メイリオ"/>
                <a:ea typeface="メイリオ"/>
              </a:rPr>
              <a:t>LINEから24時間予約（アプリ不要）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920240"/>
            <a:ext cx="941832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お客様は普段お使いのLINEで、予約・変更・キャンセル・残回数確認がすべて完結。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新しいアプリをダウンロードする必要はありません。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11247120" cy="150876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1371600" cy="150876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1371600" cy="1508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メイリオ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108960"/>
            <a:ext cx="94183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7B4A5C"/>
                </a:solidFill>
                <a:latin typeface="メイリオ"/>
                <a:ea typeface="メイリオ"/>
              </a:rPr>
              <a:t>スマホ対応の管理画面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611880"/>
            <a:ext cx="941832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オーナー様はスマホ・タブレット・PCから業務を確認・操作。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お客様のご来店中でも、外出先でもスムーズに対応できます。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17720"/>
            <a:ext cx="11247120" cy="150876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17720"/>
            <a:ext cx="1371600" cy="150876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17720"/>
            <a:ext cx="1371600" cy="1508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メイリオ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800600"/>
            <a:ext cx="94183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7B4A5C"/>
                </a:solidFill>
                <a:latin typeface="メイリオ"/>
                <a:ea typeface="メイリオ"/>
              </a:rPr>
              <a:t>自動リマインド・自動バックアップ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303520"/>
            <a:ext cx="941832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前日に自動でお客様へリマインドLINE。週次で自動バックアップ。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「うっかり忘れ」も「データ消失」も、仕組みで防ぎます。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顧客体験① LINEで予約完結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お客様はLINEアプリひとつで、24時間いつでも予約できます。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3200400" cy="4114800"/>
          </a:xfrm>
          <a:prstGeom prst="roundRect">
            <a:avLst/>
          </a:prstGeom>
          <a:solidFill>
            <a:srgbClr val="EEEEEE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920240"/>
            <a:ext cx="3017520" cy="36576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① メニューを開く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31720"/>
            <a:ext cx="30175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リッチメニュー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188720" cy="86868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18872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予約する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57400" y="3657600"/>
            <a:ext cx="1188720" cy="86868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657600"/>
            <a:ext cx="118872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予約確認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617720"/>
            <a:ext cx="2468880" cy="868680"/>
          </a:xfrm>
          <a:prstGeom prst="roundRect">
            <a:avLst/>
          </a:prstGeom>
          <a:solidFill>
            <a:srgbClr val="7B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17720"/>
            <a:ext cx="246888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お問い合わせ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1828800"/>
            <a:ext cx="3200400" cy="4114800"/>
          </a:xfrm>
          <a:prstGeom prst="roundRect">
            <a:avLst/>
          </a:prstGeom>
          <a:solidFill>
            <a:srgbClr val="EEEEEE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1920240"/>
            <a:ext cx="3017520" cy="36576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192024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② 日付を選ぶ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2331720"/>
            <a:ext cx="30175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23160"/>
            <a:ext cx="30175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2026年4月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3074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4148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5222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6297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7371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8445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3074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03074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D9534F"/>
                </a:solidFill>
                <a:latin typeface="メイリオ"/>
                <a:ea typeface="メイリオ"/>
              </a:rPr>
              <a:t>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4148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34148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65222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65222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6297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6297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888888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7371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7371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58445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58445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3074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3074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34148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34148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D9534F"/>
                </a:solidFill>
                <a:latin typeface="メイリオ"/>
                <a:ea typeface="メイリオ"/>
              </a:rPr>
              <a:t>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65222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65222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96297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6297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7371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7371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888888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8445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8445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888888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03074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03074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34148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34148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65222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65222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D9534F"/>
                </a:solidFill>
                <a:latin typeface="メイリオ"/>
                <a:ea typeface="メイリオ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96297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96297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7371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27371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58445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58445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12480" y="1828800"/>
            <a:ext cx="3200400" cy="4114800"/>
          </a:xfrm>
          <a:prstGeom prst="roundRect">
            <a:avLst/>
          </a:prstGeom>
          <a:solidFill>
            <a:srgbClr val="EEEEEE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503920" y="1920240"/>
            <a:ext cx="3017520" cy="36576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03920" y="192024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③ 時間を選んで確定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03920" y="2331720"/>
            <a:ext cx="30175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503920" y="2423160"/>
            <a:ext cx="30175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4月8日（水）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641080" y="2788920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41080" y="2788920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10:00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41080" y="3136392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641080" y="3136392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11:00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641080" y="3483864"/>
            <a:ext cx="2743200" cy="274320"/>
          </a:xfrm>
          <a:prstGeom prst="roundRect">
            <a:avLst/>
          </a:prstGeom>
          <a:solidFill>
            <a:srgbClr val="D4688A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41080" y="3483864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13:00 ✓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41080" y="3831336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41080" y="3831336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14:00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641080" y="4178808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641080" y="4178808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15:00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641080" y="4526280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4526280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16:00</a:t>
            </a:r>
          </a:p>
        </p:txBody>
      </p:sp>
      <p:sp>
        <p:nvSpPr>
          <p:cNvPr id="91" name="Right Arrow 90"/>
          <p:cNvSpPr/>
          <p:nvPr/>
        </p:nvSpPr>
        <p:spPr>
          <a:xfrm>
            <a:off x="3886200" y="3657600"/>
            <a:ext cx="457200" cy="457200"/>
          </a:xfrm>
          <a:prstGeom prst="rightArrow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ight Arrow 91"/>
          <p:cNvSpPr/>
          <p:nvPr/>
        </p:nvSpPr>
        <p:spPr>
          <a:xfrm>
            <a:off x="7818120" y="3657600"/>
            <a:ext cx="457200" cy="457200"/>
          </a:xfrm>
          <a:prstGeom prst="rightArrow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200400" y="6035040"/>
            <a:ext cx="5760720" cy="45720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200400" y="6035040"/>
            <a:ext cx="57607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💡 アプリをインストールする必要ナシ！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顧客体験② 予約変更・キャンセル・残回数確認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お客様の「ちょっとした用件」も、LINEで完結します。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00200" y="2103120"/>
            <a:ext cx="1371600" cy="1371600"/>
          </a:xfrm>
          <a:prstGeom prst="ellipse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2103120"/>
            <a:ext cx="1371600" cy="1371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333333"/>
                </a:solidFill>
                <a:latin typeface="メイリオ"/>
                <a:ea typeface="メイリオ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予約変更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329184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日時の変更がLINEから可能。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予約確認メッセージの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「変更する」ボタン1タップ。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28800"/>
            <a:ext cx="365760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2120" y="2103120"/>
            <a:ext cx="1371600" cy="1371600"/>
          </a:xfrm>
          <a:prstGeom prst="ellipse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103120"/>
            <a:ext cx="1371600" cy="1371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333333"/>
                </a:solidFill>
                <a:latin typeface="メイリオ"/>
                <a:ea typeface="メイリオ"/>
              </a:rPr>
              <a:t>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65760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予約キャンセル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06240"/>
            <a:ext cx="329184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急な用事でもLINEで即キャンセル。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キャンセル料ポリシーも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自動で事前表示。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828800"/>
            <a:ext cx="365760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64040" y="2103120"/>
            <a:ext cx="1371600" cy="1371600"/>
          </a:xfrm>
          <a:prstGeom prst="ellipse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0" y="2103120"/>
            <a:ext cx="1371600" cy="1371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333333"/>
                </a:solidFill>
                <a:latin typeface="メイリオ"/>
                <a:ea typeface="メイリオ"/>
              </a:rP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65760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コース残回数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206240"/>
            <a:ext cx="329184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「残回数」ボタンで現在の残数を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いつでも確認。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次回予約の目安にも。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5760720"/>
            <a:ext cx="9445752" cy="54864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5760720"/>
            <a:ext cx="9445752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💬 わざわざ電話する必要がない ＝ お客様の満足度UP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オーナー体験① ダッシュボード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本日必要な情報が、ひと目でわかる画面設計。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064240" cy="448056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19"/>
            <a:ext cx="10881360" cy="4572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74519"/>
            <a:ext cx="9144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🌸 〇〇サロン  ダッシュボード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874519"/>
            <a:ext cx="18288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2026/04/21 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本日の予約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D4688A"/>
                </a:solidFill>
                <a:latin typeface="メイリオ"/>
                <a:ea typeface="メイリオ"/>
              </a:rPr>
              <a:t>5件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本日の売上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D4A574"/>
                </a:solidFill>
                <a:latin typeface="メイリオ"/>
                <a:ea typeface="メイリオ"/>
              </a:rPr>
              <a:t>¥38,500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今月の売上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7B4A5C"/>
                </a:solidFill>
                <a:latin typeface="メイリオ"/>
                <a:ea typeface="メイリオ"/>
              </a:rPr>
              <a:t>¥482,000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コース残少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0A040"/>
                </a:solidFill>
                <a:latin typeface="メイリオ"/>
                <a:ea typeface="メイリオ"/>
              </a:rPr>
              <a:t>3名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840480"/>
            <a:ext cx="68580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3840480"/>
            <a:ext cx="6858000" cy="320040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840480"/>
            <a:ext cx="64008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📅 本日の予約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2062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10:00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2062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田中 美咲様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2062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カット＋カラー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6634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11:30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46634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佐藤 健一様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6634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フェイシャル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1206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13:00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51206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鈴木 陽子様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1206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コース (残3回)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5778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15:00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5778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高橋 由美様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5778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カット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63840" y="3840480"/>
            <a:ext cx="36576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79" y="3886200"/>
            <a:ext cx="34747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CB85C"/>
                </a:solidFill>
                <a:latin typeface="メイリオ"/>
                <a:ea typeface="メイリオ"/>
              </a:rPr>
              <a:t>💾 最新バックアップ 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425196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2026/04/19 02:00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（毎週日曜 午前2時に自動実行）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63840" y="4937760"/>
            <a:ext cx="365760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79" y="4983480"/>
            <a:ext cx="34747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0A040"/>
                </a:solidFill>
                <a:latin typeface="メイリオ"/>
                <a:ea typeface="メイリオ"/>
              </a:rPr>
              <a:t>⚠ コース残回数アラート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5349240"/>
            <a:ext cx="347472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残り4回以下: 3名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→ 次回来店時にご案内を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オーナー体験② 顧客管理・コース残回数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残回数が少なくなったお客様を、自動でピックアップ。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75895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7589520" cy="4572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73152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👥 顧客一覧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10058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顧客ID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77440"/>
            <a:ext cx="2286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お名前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377440"/>
            <a:ext cx="20116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コース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377440"/>
            <a:ext cx="118872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残回数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377440"/>
            <a:ext cx="9144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来店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7432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7432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7432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田中 美咲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7432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フェイシャル10回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2816352"/>
            <a:ext cx="822960" cy="27432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28163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8回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7432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5回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004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004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佐藤 健一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2004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ボディケア5回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3273552"/>
            <a:ext cx="822960" cy="274320"/>
          </a:xfrm>
          <a:prstGeom prst="roundRect">
            <a:avLst/>
          </a:prstGeom>
          <a:solidFill>
            <a:srgbClr val="F0A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32735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4回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2004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2回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6576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6576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36576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鈴木 陽子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36576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ヘアトリートメント10回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0" y="3730752"/>
            <a:ext cx="822960" cy="27432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37307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1回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6576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8回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1148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1148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高橋 由美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41148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カラー5回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0" y="4187952"/>
            <a:ext cx="822960" cy="274320"/>
          </a:xfrm>
          <a:prstGeom prst="roundRect">
            <a:avLst/>
          </a:prstGeom>
          <a:solidFill>
            <a:srgbClr val="F0A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41879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3回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1148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3回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5720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5720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54480" y="45720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山田 花子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45720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コース終了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4645152"/>
            <a:ext cx="822960" cy="274320"/>
          </a:xfrm>
          <a:prstGeom prst="round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0" y="46451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0" y="45720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12回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0292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50292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伊藤 明子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0480" y="50292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フェイシャル20回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35040" y="5102352"/>
            <a:ext cx="822960" cy="27432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51023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15回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50292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6回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4864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4864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54864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渡辺 梨花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54864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ボディケア10回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5040" y="5559552"/>
            <a:ext cx="822960" cy="27432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5040" y="55595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2回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54864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9回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29600" y="1828800"/>
            <a:ext cx="3474720" cy="210312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0" y="1920240"/>
            <a:ext cx="34747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⚠️ 要フォロー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2377440"/>
            <a:ext cx="3291840" cy="1463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残り4回以下の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お客様が3名います。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コース追加のご案内を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お忘れなく！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4114800"/>
            <a:ext cx="347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0" y="4206240"/>
            <a:ext cx="34747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🏷️ バッジ色の見方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412480" y="4709160"/>
            <a:ext cx="822960" cy="32004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12480" y="4709160"/>
            <a:ext cx="8229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5回以上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4709160"/>
            <a:ext cx="21945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余裕あり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12480" y="5166360"/>
            <a:ext cx="822960" cy="320040"/>
          </a:xfrm>
          <a:prstGeom prst="roundRect">
            <a:avLst/>
          </a:prstGeom>
          <a:solidFill>
            <a:srgbClr val="F0A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0" y="5166360"/>
            <a:ext cx="8229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2〜4回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20" y="5166360"/>
            <a:ext cx="21945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そろそろ案内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12480" y="5623560"/>
            <a:ext cx="822960" cy="32004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12480" y="5623560"/>
            <a:ext cx="8229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1回以下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5623560"/>
            <a:ext cx="21945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要フォロー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オーナー体験③ 売上レポート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B4A5C"/>
                </a:solidFill>
                <a:latin typeface="メイリオ"/>
                <a:ea typeface="メイリオ"/>
              </a:rPr>
              <a:t>月別・日別の売上が、グラフで一目瞭然。売上明細・顧客一覧・予約台帳はCSVでダウンロード可能（Excel対応）。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6400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📊 月別売上（過去12ヶ月）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34256"/>
            <a:ext cx="411480" cy="1152144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4168" y="4155034"/>
            <a:ext cx="411480" cy="1331366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65376" y="4257447"/>
            <a:ext cx="411480" cy="1228953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7088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86584" y="4078224"/>
            <a:ext cx="411480" cy="1408176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68296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07792" y="3950208"/>
            <a:ext cx="411480" cy="153619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9504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3822192"/>
            <a:ext cx="411480" cy="16642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50208" y="3694176"/>
            <a:ext cx="411480" cy="179222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71416" y="3386938"/>
            <a:ext cx="411480" cy="2099462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3128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2624" y="4001415"/>
            <a:ext cx="411480" cy="1484985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13832" y="3899002"/>
            <a:ext cx="411480" cy="158739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95544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3566160"/>
            <a:ext cx="411480" cy="1920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6752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56248" y="3233319"/>
            <a:ext cx="411480" cy="2253081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2468880"/>
            <a:ext cx="320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06440"/>
            <a:ext cx="62179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79" y="1828800"/>
            <a:ext cx="42062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0" y="192024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📁 CSVダウンロード（売上／顧客／予約）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80960" y="2377440"/>
            <a:ext cx="3840480" cy="32004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0" y="2377440"/>
            <a:ext cx="12801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日付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2377440"/>
            <a:ext cx="12801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顧客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377440"/>
            <a:ext cx="12801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金額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2697480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0" y="269748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269748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田中様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269748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¥8,500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29900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9900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佐藤様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29900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¥12,000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80960" y="3282696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282696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3282696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鈴木様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0" y="3282696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¥6,000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3575304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1120" y="3575304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高橋様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3575304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¥15,000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3867912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80960" y="3867912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0" y="3867912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山田様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3867912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¥8,500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416052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61120" y="416052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伊藤様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0" y="416052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¥22,000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680960" y="4453128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80960" y="445312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0" y="445312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渡辺様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41280" y="445312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¥8,500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6720" y="5394960"/>
            <a:ext cx="3108960" cy="54864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0" y="5394960"/>
            <a:ext cx="310896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⬇ CSVダウンロード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スマホ完全対応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PCでもスマホでも、画面サイズに合わせて自動で最適化。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5486400" cy="384048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94560"/>
            <a:ext cx="493776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194560"/>
            <a:ext cx="4937760" cy="27432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日時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顧客名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メニュー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金額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10:00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田中様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カット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¥5,500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11:30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佐藤様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カラー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¥12,000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13:00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鈴木様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フェイシャル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¥8,000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15:00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高橋様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コース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1760" y="5760720"/>
            <a:ext cx="1280160" cy="1371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03120" y="5897880"/>
            <a:ext cx="2377440" cy="9144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PC：広々と一覧表示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1828800"/>
            <a:ext cx="2560320" cy="420624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2057400"/>
            <a:ext cx="237744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2057400"/>
            <a:ext cx="2377440" cy="27432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057400"/>
            <a:ext cx="237744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予約一覧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2423160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2468880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10:00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2697480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田中様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898648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カット ¥5,500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3227832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3273552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12:00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502152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佐藤様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3703320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カラー ¥12,000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40" y="4032504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4078224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14:00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4306824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鈴木様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507992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フェイシャル ¥8,000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21040" y="4837176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0" y="4882896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16:00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5111496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高橋様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5312664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コース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6172200"/>
            <a:ext cx="25603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7B4A5C"/>
                </a:solidFill>
                <a:latin typeface="メイリオ"/>
                <a:ea typeface="メイリオ"/>
              </a:rPr>
              <a:t>スマホ：カード型に自動変換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6400800" y="3474720"/>
            <a:ext cx="1554480" cy="73152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3474720"/>
            <a:ext cx="15544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自動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切替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自動リマインド &amp; 自動バックアップ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「うっかり」と「もしもの時」から、サロンを守る仕組み。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577840" cy="411480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3035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688A"/>
                </a:solidFill>
                <a:latin typeface="メイリオ"/>
                <a:ea typeface="メイリオ"/>
              </a:rPr>
              <a:t>⏰ 前日リマインド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5303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B4A5C"/>
                </a:solidFill>
                <a:latin typeface="メイリオ"/>
                <a:ea typeface="メイリオ"/>
              </a:rPr>
              <a:t>お客様のLINEに自動でメッセージ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26080"/>
            <a:ext cx="4754880" cy="1645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17520"/>
            <a:ext cx="4572000" cy="1463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〇〇サロンです🌸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明日 4/22（金）14:00 から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カット＋カラーのご予約を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お待ちしております。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変更・キャンセルはメニューから。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5212080" cy="105156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521208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効果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74920"/>
            <a:ext cx="521208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無断キャンセル激減 → 機会損失を防止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828800"/>
            <a:ext cx="5486400" cy="411480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メイリオ"/>
                <a:ea typeface="メイリオ"/>
              </a:rPr>
              <a:t>💾 週次バックアップ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521208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B4A5C"/>
                </a:solidFill>
                <a:latin typeface="メイリオ"/>
                <a:ea typeface="メイリオ"/>
              </a:rPr>
              <a:t>毎週日曜 午前2時、自動でデータを保管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2926080"/>
            <a:ext cx="640080" cy="8229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246120"/>
            <a:ext cx="6400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2:00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火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6404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9556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9556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2708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2708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886200"/>
            <a:ext cx="5303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→ ダッシュボードに「最新バックアップ✓」表示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97680"/>
            <a:ext cx="484632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297680"/>
            <a:ext cx="48463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CB85C"/>
                </a:solidFill>
                <a:latin typeface="メイリオ"/>
                <a:ea typeface="メイリオ"/>
              </a:rPr>
              <a:t>✓ 2026/04/19 02:00 バックアップ完了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4846320"/>
            <a:ext cx="5212080" cy="91440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846320"/>
            <a:ext cx="5212080" cy="9144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</a:rPr>
              <a:t>💡 データ消失の心配なし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</a:rPr>
              <a:t>過去4週間分を自動保管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セキュリティ対策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大切なお客様情報を、しっかり守る4つの仕組み。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10312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パスワードはハッシュ化保存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60604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SHA-256で不可逆変換して保存。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万一データが見られても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パスワードは復元不可能です。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92240" y="210312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0312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10312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通信はすべて暗号化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260604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LINE・管理画面とサーバー間の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通信はHTTPSで暗号化。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盗聴の心配はありません。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2336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429768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9768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29768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共有PCでも安心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80060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ログイン情報の保存を選べる方式。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OFFならブラウザを閉じた時点で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自動ログアウトします。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02336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0" y="429768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29768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29768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操作履歴を自動記録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480060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管理者ログイン履歴と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LINEメッセージ送受信履歴を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自動記録。後から確認できます。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他システムとの違い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コスト・柔軟性・データ所有権。すべてサロン側のメリットを追求。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828800"/>
          <a:ext cx="10332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657600"/>
                <a:gridCol w="365760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D468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当システム</a:t>
                      </a:r>
                    </a:p>
                  </a:txBody>
                  <a:tcPr anchor="ctr">
                    <a:solidFill>
                      <a:srgbClr val="D468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大手予約サイト</a:t>
                      </a:r>
                    </a:p>
                  </a:txBody>
                  <a:tcPr anchor="ctr">
                    <a:solidFill>
                      <a:srgbClr val="D4688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月額固定費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要相談（変動なし）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高額 ＋ 手数料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LINE連携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標準搭載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オプション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カスタマイズ
（店舗名・文言・料金）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自由に変更可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制限あり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データ所有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サロン側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事業者側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予約手数料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なし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1件ごとに課金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※ 上記は一般的な比較です。具体的な金額・条件は個別にご相談ください。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導入の流れ（4週間）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お申込みから運用開始まで、およそ4週間で完了します。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ヒアリング &amp; 環境準備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サロン様の業務フローをお伺いし、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Googleアカウント・LINE公式アカウント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の準備をサポート。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54680" y="4114800"/>
            <a:ext cx="182880" cy="3657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97680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LINE公式アカウント連携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予約メニュー・リッチメニューの設定、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サロン専用の挨拶メッセージや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キャンセルポリシーを登録。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4114800"/>
            <a:ext cx="182880" cy="3657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初期データ移行・動作確認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既存顧客データの取り込み、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メニュー・コース料金の登録、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テスト予約での動作確認。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915400" y="4114800"/>
            <a:ext cx="182880" cy="3657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58399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399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52559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59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59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運用開始 &amp; 操作研修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19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オンライン研修（管理画面・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よくある操作）を実施。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本格運用スタート後もサポート継続。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※ サロン様のご都合やデータ量により、期間は前後する場合があります。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料金プラン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サロン様の規模・ご要望に合わせて、個別にお見積もりいたします。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333333"/>
                </a:solidFill>
                <a:latin typeface="メイリオ"/>
                <a:ea typeface="メイリオ"/>
              </a:rPr>
              <a:t>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初期費用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520440"/>
            <a:ext cx="2743200" cy="9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4688A"/>
                </a:solidFill>
                <a:latin typeface="メイリオ"/>
                <a:ea typeface="メイリオ"/>
              </a:rPr>
              <a:t>要相談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32004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環境構築・初期設定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LINE公式アカウント連携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既存データ移行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オンライン研修1回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828800"/>
            <a:ext cx="3657600" cy="4114800"/>
          </a:xfrm>
          <a:prstGeom prst="roundRect">
            <a:avLst/>
          </a:prstGeom>
          <a:solidFill>
            <a:srgbClr val="D4688A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0312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333333"/>
                </a:solidFill>
                <a:latin typeface="メイリオ"/>
                <a:ea typeface="メイリオ"/>
              </a:rPr>
              <a:t>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01752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月額保守費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3520440"/>
            <a:ext cx="2743200" cy="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65760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ea typeface="メイリオ"/>
              </a:rPr>
              <a:t>要相談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480560"/>
            <a:ext cx="32004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システム稼働監視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データバックアップ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LINE・メールサポート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軽微な修正対応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10312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333333"/>
                </a:solidFill>
                <a:latin typeface="メイリオ"/>
                <a:ea typeface="メイリオ"/>
              </a:rPr>
              <a:t>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01752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オプション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3520440"/>
            <a:ext cx="2743200" cy="9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65760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4688A"/>
                </a:solidFill>
                <a:latin typeface="メイリオ"/>
                <a:ea typeface="メイリオ"/>
              </a:rPr>
              <a:t>要相談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480560"/>
            <a:ext cx="32004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カスタマイズ開発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追加研修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繁忙期サポート強化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複数店舗対応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6080760"/>
            <a:ext cx="8503920" cy="365760"/>
          </a:xfrm>
          <a:prstGeom prst="round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0" y="6080760"/>
            <a:ext cx="85039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※ 個別見積もりいたします。お気軽にご相談ください。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サポート体制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導入後も安心の4段階サポート。困った時はいつでもご相談ください。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24028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4028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01168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導入時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33172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設定代行 ＋ オンライン研修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83464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初期設定を代行し、管理画面の操作方法を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オンライン（画面共有）で丁寧にご説明。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2880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37960" y="224028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24028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01168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運用開始後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3172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LINE・メールサポート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83464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ご不明点はLINEまたはメールで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24時間受付。営業日に順次回答します。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443484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43484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20624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月次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52628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運用状況の確認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502920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月1回、予約件数・売上・稼働状況を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レポートとしてご報告。改善提案も。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02336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37960" y="443484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43484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420624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緊急時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452628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障害対応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502920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システム停止や重大な不具合発生時は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優先対応。復旧までの情報共有も密に。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よくあるご質問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B4A5C"/>
                </a:solidFill>
                <a:latin typeface="メイリオ"/>
                <a:ea typeface="メイリオ"/>
              </a:rPr>
              <a:t>導入前によくいただくご質問をまとめました。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691640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操作が難しそうで不安です。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03120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103120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ご心配いりません。導入時にマニュアルをお渡しし、オンライン研修で実際に操作しながらご説明します。運用開始後もいつでも質問OK。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24328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24328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24328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データはどこに保管されますか？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35808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035808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Google社のクラウド（Googleドライブ）上に、オーナー様のアカウントで保管されます。データの所有権は完全にサロン様にあります。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57016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557016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557016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既存の顧客データはどうなりますか？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68496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968496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968496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現時点では売上明細・顧客一覧・予約台帳のCSV出力に対応しています。他システムからのデータ移行は個別にご相談のうえ対応いたします。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489704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89704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489704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途中で解約したくなったら？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01184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01184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901184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データはそのまま保持され、サロン様のGoogleアカウントに残ります。いつでも内容を確認・ダウンロードしていただけます。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22392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422392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422392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月の予約件数に制限はありますか？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833872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833872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833872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システム自体に件数上限はありません。LINE公式アカウントの無料枠を超える規模の場合は、有料プランへの移行をご相談いたします。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お客様の声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導入いただいたサロン様からのコメントをご紹介します。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D4A574"/>
                </a:solidFill>
                <a:latin typeface="メイリオ"/>
                <a:ea typeface="メイリオ"/>
              </a:rPr>
              <a:t>★★★★★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2044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サロンA様（ヘアサロン）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40"/>
            <a:ext cx="3108960" cy="1828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「導入1ヶ月で、無断キャンセルが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半分以下に減りました。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前日リマインドの効果は絶大です。」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1031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10896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D4A574"/>
                </a:solidFill>
                <a:latin typeface="メイリオ"/>
                <a:ea typeface="メイリオ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52044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サロンB様（エステ）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977640"/>
            <a:ext cx="3108960" cy="1828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「お客様から『LINEで予約できて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便利』と好評。新規のご予約も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月30％増加しました。」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1031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10896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D4A574"/>
                </a:solidFill>
                <a:latin typeface="メイリオ"/>
                <a:ea typeface="メイリオ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52044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サロンC様（ネイル）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977640"/>
            <a:ext cx="3108960" cy="1828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「残回数が可視化されたことで、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コース追加のご案内が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自然にできるようになりました。」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※ 上記はイメージです。実際の導入事例は、ご要望に応じて個別にご紹介いたします。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導入までの次のステップ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たった5ステップで、新しいサロン運営が始まります。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62456" y="1920240"/>
            <a:ext cx="18000" cy="4206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182880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82880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本資料ご確認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82880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まずはこの資料をゆっくりご確認ください。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269748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69748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0" y="269748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69748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ヒアリング（30分無料）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269748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オンラインまたは訪問で、現状の課題をお伺いします。</a:t>
            </a:r>
          </a:p>
        </p:txBody>
      </p:sp>
      <p:sp>
        <p:nvSpPr>
          <p:cNvPr id="20" name="Oval 19"/>
          <p:cNvSpPr/>
          <p:nvPr/>
        </p:nvSpPr>
        <p:spPr>
          <a:xfrm>
            <a:off x="1005840" y="356616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56616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356616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356616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お見積り提示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56616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サロン様に最適なプラン・金額をご提案。</a:t>
            </a:r>
          </a:p>
        </p:txBody>
      </p:sp>
      <p:sp>
        <p:nvSpPr>
          <p:cNvPr id="25" name="Oval 24"/>
          <p:cNvSpPr/>
          <p:nvPr/>
        </p:nvSpPr>
        <p:spPr>
          <a:xfrm>
            <a:off x="1005840" y="443484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43484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11680" y="443484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4560" y="443484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ご契約・初期設定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43484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ご契約後、4週間で環境構築・データ移行を実施。</a:t>
            </a:r>
          </a:p>
        </p:txBody>
      </p:sp>
      <p:sp>
        <p:nvSpPr>
          <p:cNvPr id="30" name="Oval 29"/>
          <p:cNvSpPr/>
          <p:nvPr/>
        </p:nvSpPr>
        <p:spPr>
          <a:xfrm>
            <a:off x="1005840" y="530352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30352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11680" y="530352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94560" y="530352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運用開始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530352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操作研修を経て、本格運用スタート！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360152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7B4A5C"/>
                </a:solidFill>
                <a:latin typeface="メイリオ"/>
                <a:ea typeface="メイリオ"/>
              </a:rPr>
              <a:t>まずはお気軽にご相談ください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60152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D4A574"/>
                </a:solidFill>
                <a:latin typeface="Arial"/>
                <a:ea typeface="メイリオ"/>
              </a:rPr>
              <a:t>Contact 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468880"/>
            <a:ext cx="7589520" cy="3474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274320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担当者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063240"/>
            <a:ext cx="75895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〇〇 〇〇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657600"/>
            <a:ext cx="4846320" cy="9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379476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D4688A"/>
                </a:solidFill>
                <a:latin typeface="メイリオ"/>
                <a:ea typeface="メイリオ"/>
              </a:rPr>
              <a:t>📧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11480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Arial"/>
                <a:ea typeface="メイリオ"/>
              </a:rPr>
              <a:t>xxxxx@example.com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66344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D4688A"/>
                </a:solidFill>
                <a:latin typeface="メイリオ"/>
                <a:ea typeface="メイリオ"/>
              </a:rPr>
              <a:t>📞 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98348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Arial"/>
                <a:ea typeface="メイリオ"/>
              </a:rPr>
              <a:t>000-0000-0000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53212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営業時間: 平日 10:00〜18:00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126480"/>
            <a:ext cx="10360152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D4688A"/>
                </a:solidFill>
                <a:latin typeface="Arial"/>
                <a:ea typeface="メイリオ"/>
              </a:rPr>
              <a:t>🌸 Thank you 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