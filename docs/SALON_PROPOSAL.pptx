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28600"/>
          </a:xfrm>
          <a:prstGeom prst="rect">
            <a:avLst/>
          </a:prstGeom>
          <a:solidFill>
            <a:srgbClr val="D46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D46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184648" y="1097280"/>
            <a:ext cx="1828800" cy="1828800"/>
          </a:xfrm>
          <a:prstGeom prst="ellipse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184648" y="1097280"/>
            <a:ext cx="1828800" cy="18288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7200" b="0">
                <a:solidFill>
                  <a:srgbClr val="FFFFFF"/>
                </a:solidFill>
                <a:latin typeface="メイリオ"/>
                <a:ea typeface="メイリオ"/>
              </a:rPr>
              <a:t>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200400"/>
            <a:ext cx="10360152" cy="10972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600" b="1">
                <a:solidFill>
                  <a:srgbClr val="7B4A5C"/>
                </a:solidFill>
                <a:latin typeface="メイリオ"/>
                <a:ea typeface="メイリオ"/>
              </a:rPr>
              <a:t>LINEで予約が完結する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931920"/>
            <a:ext cx="10360152" cy="10972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4400" b="1">
                <a:solidFill>
                  <a:srgbClr val="D4688A"/>
                </a:solidFill>
                <a:latin typeface="メイリオ"/>
                <a:ea typeface="メイリオ"/>
              </a:rPr>
              <a:t>サロン顧客管理システム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029200"/>
            <a:ext cx="10360152" cy="5486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0">
                <a:solidFill>
                  <a:srgbClr val="7B4A5C"/>
                </a:solidFill>
                <a:latin typeface="メイリオ"/>
                <a:ea typeface="メイリオ"/>
              </a:rPr>
              <a:t>オーナー様向け ご提案資料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852160"/>
            <a:ext cx="10360152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888888"/>
                </a:solidFill>
                <a:latin typeface="メイリオ"/>
                <a:ea typeface="メイリオ"/>
              </a:rPr>
              <a:t>Version 1.0  |  2026.XX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65760" y="274320"/>
            <a:ext cx="548640" cy="548640"/>
          </a:xfrm>
          <a:prstGeom prst="ellipse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56032"/>
            <a:ext cx="10058400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7B4A5C"/>
                </a:solidFill>
                <a:latin typeface="メイリオ"/>
                <a:ea typeface="メイリオ"/>
              </a:rPr>
              <a:t>こんなお悩みありませんか？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960120"/>
            <a:ext cx="11430000" cy="18000"/>
          </a:xfrm>
          <a:prstGeom prst="rect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188720"/>
            <a:ext cx="1097280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7B4A5C"/>
                </a:solidFill>
                <a:latin typeface="メイリオ"/>
                <a:ea typeface="メイリオ"/>
              </a:rPr>
              <a:t>一つでも当てはまれば、このシステムで解決できます。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1828800"/>
            <a:ext cx="10332720" cy="731520"/>
          </a:xfrm>
          <a:prstGeom prst="roundRect">
            <a:avLst/>
          </a:prstGeom>
          <a:solidFill>
            <a:srgbClr val="FFF5F7"/>
          </a:solidFill>
          <a:ln w="12700">
            <a:solidFill>
              <a:srgbClr val="D46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88720" y="1993392"/>
            <a:ext cx="402336" cy="402336"/>
          </a:xfrm>
          <a:prstGeom prst="rect">
            <a:avLst/>
          </a:prstGeom>
          <a:solidFill>
            <a:srgbClr val="FFFFFF"/>
          </a:solidFill>
          <a:ln w="19050">
            <a:solidFill>
              <a:srgbClr val="D46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1947672"/>
            <a:ext cx="402336" cy="4572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D4688A"/>
                </a:solidFill>
                <a:latin typeface="メイリオ"/>
                <a:ea typeface="メイリオ"/>
              </a:rPr>
              <a:t>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1828800"/>
            <a:ext cx="9326880" cy="7315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333333"/>
                </a:solidFill>
                <a:latin typeface="メイリオ"/>
                <a:ea typeface="メイリオ"/>
              </a:rPr>
              <a:t>予約の電話・LINEメッセージ対応に追われている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2697480"/>
            <a:ext cx="10332720" cy="731520"/>
          </a:xfrm>
          <a:prstGeom prst="roundRect">
            <a:avLst/>
          </a:prstGeom>
          <a:solidFill>
            <a:srgbClr val="FFF5F7"/>
          </a:solidFill>
          <a:ln w="12700">
            <a:solidFill>
              <a:srgbClr val="D46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88720" y="2862072"/>
            <a:ext cx="402336" cy="402336"/>
          </a:xfrm>
          <a:prstGeom prst="rect">
            <a:avLst/>
          </a:prstGeom>
          <a:solidFill>
            <a:srgbClr val="FFFFFF"/>
          </a:solidFill>
          <a:ln w="19050">
            <a:solidFill>
              <a:srgbClr val="D46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2816352"/>
            <a:ext cx="402336" cy="4572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D4688A"/>
                </a:solidFill>
                <a:latin typeface="メイリオ"/>
                <a:ea typeface="メイリオ"/>
              </a:rPr>
              <a:t>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2697480"/>
            <a:ext cx="9326880" cy="7315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333333"/>
                </a:solidFill>
                <a:latin typeface="メイリオ"/>
                <a:ea typeface="メイリオ"/>
              </a:rPr>
              <a:t>無断キャンセルや常連の予約忘れが多い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" y="3566160"/>
            <a:ext cx="10332720" cy="731520"/>
          </a:xfrm>
          <a:prstGeom prst="roundRect">
            <a:avLst/>
          </a:prstGeom>
          <a:solidFill>
            <a:srgbClr val="FFF5F7"/>
          </a:solidFill>
          <a:ln w="12700">
            <a:solidFill>
              <a:srgbClr val="D46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88720" y="3730752"/>
            <a:ext cx="402336" cy="402336"/>
          </a:xfrm>
          <a:prstGeom prst="rect">
            <a:avLst/>
          </a:prstGeom>
          <a:solidFill>
            <a:srgbClr val="FFFFFF"/>
          </a:solidFill>
          <a:ln w="19050">
            <a:solidFill>
              <a:srgbClr val="D46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88720" y="3685032"/>
            <a:ext cx="402336" cy="4572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D4688A"/>
                </a:solidFill>
                <a:latin typeface="メイリオ"/>
                <a:ea typeface="メイリオ"/>
              </a:rPr>
              <a:t>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3080" y="3566160"/>
            <a:ext cx="9326880" cy="7315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333333"/>
                </a:solidFill>
                <a:latin typeface="メイリオ"/>
                <a:ea typeface="メイリオ"/>
              </a:rPr>
              <a:t>顧客ごとのコース残回数の管理が大変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400" y="4434840"/>
            <a:ext cx="10332720" cy="731520"/>
          </a:xfrm>
          <a:prstGeom prst="roundRect">
            <a:avLst/>
          </a:prstGeom>
          <a:solidFill>
            <a:srgbClr val="FFF5F7"/>
          </a:solidFill>
          <a:ln w="12700">
            <a:solidFill>
              <a:srgbClr val="D46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188720" y="4599432"/>
            <a:ext cx="402336" cy="402336"/>
          </a:xfrm>
          <a:prstGeom prst="rect">
            <a:avLst/>
          </a:prstGeom>
          <a:solidFill>
            <a:srgbClr val="FFFFFF"/>
          </a:solidFill>
          <a:ln w="19050">
            <a:solidFill>
              <a:srgbClr val="D46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88720" y="4553712"/>
            <a:ext cx="402336" cy="4572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D4688A"/>
                </a:solidFill>
                <a:latin typeface="メイリオ"/>
                <a:ea typeface="メイリオ"/>
              </a:rPr>
              <a:t>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4434840"/>
            <a:ext cx="9326880" cy="7315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333333"/>
                </a:solidFill>
                <a:latin typeface="メイリオ"/>
                <a:ea typeface="メイリオ"/>
              </a:rPr>
              <a:t>エクセル管理でデータが散らばっている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4400" y="5303520"/>
            <a:ext cx="10332720" cy="731520"/>
          </a:xfrm>
          <a:prstGeom prst="roundRect">
            <a:avLst/>
          </a:prstGeom>
          <a:solidFill>
            <a:srgbClr val="FFF5F7"/>
          </a:solidFill>
          <a:ln w="12700">
            <a:solidFill>
              <a:srgbClr val="D46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188720" y="5468112"/>
            <a:ext cx="402336" cy="402336"/>
          </a:xfrm>
          <a:prstGeom prst="rect">
            <a:avLst/>
          </a:prstGeom>
          <a:solidFill>
            <a:srgbClr val="FFFFFF"/>
          </a:solidFill>
          <a:ln w="19050">
            <a:solidFill>
              <a:srgbClr val="D46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88720" y="5422392"/>
            <a:ext cx="402336" cy="4572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D4688A"/>
                </a:solidFill>
                <a:latin typeface="メイリオ"/>
                <a:ea typeface="メイリオ"/>
              </a:rPr>
              <a:t>□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83080" y="5303520"/>
            <a:ext cx="9326880" cy="7315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333333"/>
                </a:solidFill>
                <a:latin typeface="メイリオ"/>
                <a:ea typeface="メイリオ"/>
              </a:rPr>
              <a:t>スマホで業務確認したいが既存システムは重い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4320" y="6446520"/>
            <a:ext cx="54864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</a:rPr>
              <a:t>サロン顧客管理システム ご提案資料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0" y="6446520"/>
            <a:ext cx="146304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</a:rPr>
              <a:t>2 / 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65760" y="274320"/>
            <a:ext cx="548640" cy="548640"/>
          </a:xfrm>
          <a:prstGeom prst="ellipse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56032"/>
            <a:ext cx="10058400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7B4A5C"/>
                </a:solidFill>
                <a:latin typeface="メイリオ"/>
                <a:ea typeface="メイリオ"/>
              </a:rPr>
              <a:t>このシステムが解決します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960120"/>
            <a:ext cx="11430000" cy="18000"/>
          </a:xfrm>
          <a:prstGeom prst="rect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371600" y="1371600"/>
            <a:ext cx="9445752" cy="1097280"/>
          </a:xfrm>
          <a:prstGeom prst="roundRect">
            <a:avLst/>
          </a:prstGeom>
          <a:solidFill>
            <a:srgbClr val="D46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1371600"/>
            <a:ext cx="9445752" cy="10972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800" b="1">
                <a:solidFill>
                  <a:srgbClr val="FFFFFF"/>
                </a:solidFill>
                <a:latin typeface="メイリオ"/>
                <a:ea typeface="メイリオ"/>
              </a:rPr>
              <a:t>予約・顧客・ポイント・売上。すべてを一つに。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926080"/>
            <a:ext cx="3657600" cy="3017520"/>
          </a:xfrm>
          <a:prstGeom prst="roundRect">
            <a:avLst/>
          </a:prstGeom>
          <a:solidFill>
            <a:srgbClr val="FFF5F7"/>
          </a:solidFill>
          <a:ln w="25400">
            <a:solidFill>
              <a:srgbClr val="D46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200400"/>
            <a:ext cx="3657600" cy="9144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5400" b="0">
                <a:solidFill>
                  <a:srgbClr val="333333"/>
                </a:solidFill>
                <a:latin typeface="メイリオ"/>
                <a:ea typeface="メイリオ"/>
              </a:rPr>
              <a:t>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206240"/>
            <a:ext cx="3657600" cy="5486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7B4A5C"/>
                </a:solidFill>
                <a:latin typeface="メイリオ"/>
                <a:ea typeface="メイリオ"/>
              </a:rPr>
              <a:t>LINE予約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846320"/>
            <a:ext cx="3657600" cy="9144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</a:rPr>
              <a:t>24時間いつでも受付</a:t>
            </a:r>
          </a:p>
          <a:p>
            <a:pPr algn="ctr">
              <a:lnSpc>
                <a:spcPct val="12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</a:rPr>
              <a:t>アプリ不要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34840" y="2926080"/>
            <a:ext cx="3657600" cy="3017520"/>
          </a:xfrm>
          <a:prstGeom prst="roundRect">
            <a:avLst/>
          </a:prstGeom>
          <a:solidFill>
            <a:srgbClr val="FFF5F7"/>
          </a:solidFill>
          <a:ln w="25400">
            <a:solidFill>
              <a:srgbClr val="D46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34840" y="3200400"/>
            <a:ext cx="3657600" cy="9144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5400" b="0">
                <a:solidFill>
                  <a:srgbClr val="333333"/>
                </a:solidFill>
                <a:latin typeface="メイリオ"/>
                <a:ea typeface="メイリオ"/>
              </a:rPr>
              <a:t>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40" y="4206240"/>
            <a:ext cx="3657600" cy="5486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7B4A5C"/>
                </a:solidFill>
                <a:latin typeface="メイリオ"/>
                <a:ea typeface="メイリオ"/>
              </a:rPr>
              <a:t>管理画面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34840" y="4846320"/>
            <a:ext cx="3657600" cy="9144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</a:rPr>
              <a:t>スマホ・PC対応</a:t>
            </a:r>
          </a:p>
          <a:p>
            <a:pPr algn="ctr">
              <a:lnSpc>
                <a:spcPct val="12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</a:rPr>
              <a:t>どこでも確認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0" y="2926080"/>
            <a:ext cx="3657600" cy="3017520"/>
          </a:xfrm>
          <a:prstGeom prst="roundRect">
            <a:avLst/>
          </a:prstGeom>
          <a:solidFill>
            <a:srgbClr val="FFF5F7"/>
          </a:solidFill>
          <a:ln w="25400">
            <a:solidFill>
              <a:srgbClr val="D46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0" y="3200400"/>
            <a:ext cx="3657600" cy="9144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5400" b="0">
                <a:solidFill>
                  <a:srgbClr val="333333"/>
                </a:solidFill>
                <a:latin typeface="メイリオ"/>
                <a:ea typeface="メイリオ"/>
              </a:rPr>
              <a:t>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4206240"/>
            <a:ext cx="3657600" cy="5486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7B4A5C"/>
                </a:solidFill>
                <a:latin typeface="メイリオ"/>
                <a:ea typeface="メイリオ"/>
              </a:rPr>
              <a:t>自動化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4846320"/>
            <a:ext cx="3657600" cy="9144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</a:rPr>
              <a:t>リマインド・バックアップ</a:t>
            </a:r>
          </a:p>
          <a:p>
            <a:pPr algn="ctr">
              <a:lnSpc>
                <a:spcPct val="12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</a:rPr>
              <a:t>手間なし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" y="6446520"/>
            <a:ext cx="54864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</a:rPr>
              <a:t>サロン顧客管理システム ご提案資料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6446520"/>
            <a:ext cx="146304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</a:rPr>
              <a:t>3 / 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65760" y="274320"/>
            <a:ext cx="548640" cy="548640"/>
          </a:xfrm>
          <a:prstGeom prst="ellipse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56032"/>
            <a:ext cx="10058400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7B4A5C"/>
                </a:solidFill>
                <a:latin typeface="メイリオ"/>
                <a:ea typeface="メイリオ"/>
              </a:rPr>
              <a:t>3つの特徴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960120"/>
            <a:ext cx="11430000" cy="18000"/>
          </a:xfrm>
          <a:prstGeom prst="rect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234440"/>
            <a:ext cx="11247120" cy="1508760"/>
          </a:xfrm>
          <a:prstGeom prst="roundRect">
            <a:avLst/>
          </a:prstGeom>
          <a:solidFill>
            <a:srgbClr val="FFF5F7"/>
          </a:solidFill>
          <a:ln w="19050">
            <a:solidFill>
              <a:srgbClr val="D46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34440"/>
            <a:ext cx="1371600" cy="1508760"/>
          </a:xfrm>
          <a:prstGeom prst="rect">
            <a:avLst/>
          </a:prstGeom>
          <a:solidFill>
            <a:srgbClr val="D46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234440"/>
            <a:ext cx="1371600" cy="1508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4400" b="1">
                <a:solidFill>
                  <a:srgbClr val="FFFFFF"/>
                </a:solidFill>
                <a:latin typeface="Arial"/>
                <a:ea typeface="メイリオ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1417320"/>
            <a:ext cx="941832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7B4A5C"/>
                </a:solidFill>
                <a:latin typeface="メイリオ"/>
                <a:ea typeface="メイリオ"/>
              </a:rPr>
              <a:t>LINEから24時間予約（アプリ不要）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1920240"/>
            <a:ext cx="9418320" cy="7772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</a:rPr>
              <a:t>お客様は普段お使いのLINEで、予約・変更・キャンセル・残回数確認がすべて完結。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</a:rPr>
              <a:t>新しいアプリをダウンロードする必要はありません。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26080"/>
            <a:ext cx="11247120" cy="1508760"/>
          </a:xfrm>
          <a:prstGeom prst="roundRect">
            <a:avLst/>
          </a:prstGeom>
          <a:solidFill>
            <a:srgbClr val="FFF5F7"/>
          </a:solidFill>
          <a:ln w="19050">
            <a:solidFill>
              <a:srgbClr val="D46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926080"/>
            <a:ext cx="1371600" cy="1508760"/>
          </a:xfrm>
          <a:prstGeom prst="rect">
            <a:avLst/>
          </a:prstGeom>
          <a:solidFill>
            <a:srgbClr val="D46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926080"/>
            <a:ext cx="1371600" cy="1508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4400" b="1">
                <a:solidFill>
                  <a:srgbClr val="FFFFFF"/>
                </a:solidFill>
                <a:latin typeface="Arial"/>
                <a:ea typeface="メイリオ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3108960"/>
            <a:ext cx="941832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7B4A5C"/>
                </a:solidFill>
                <a:latin typeface="メイリオ"/>
                <a:ea typeface="メイリオ"/>
              </a:rPr>
              <a:t>スマホ対応の管理画面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1680" y="3611880"/>
            <a:ext cx="9418320" cy="7772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</a:rPr>
              <a:t>オーナー様はスマホ・タブレット・PCから業務を確認・操作。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</a:rPr>
              <a:t>お客様のご来店中でも、外出先でもスムーズに対応できます。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617720"/>
            <a:ext cx="11247120" cy="1508760"/>
          </a:xfrm>
          <a:prstGeom prst="roundRect">
            <a:avLst/>
          </a:prstGeom>
          <a:solidFill>
            <a:srgbClr val="FFF5F7"/>
          </a:solidFill>
          <a:ln w="19050">
            <a:solidFill>
              <a:srgbClr val="D46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4617720"/>
            <a:ext cx="1371600" cy="1508760"/>
          </a:xfrm>
          <a:prstGeom prst="rect">
            <a:avLst/>
          </a:prstGeom>
          <a:solidFill>
            <a:srgbClr val="D46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617720"/>
            <a:ext cx="1371600" cy="1508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4400" b="1">
                <a:solidFill>
                  <a:srgbClr val="FFFFFF"/>
                </a:solidFill>
                <a:latin typeface="Arial"/>
                <a:ea typeface="メイリオ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11680" y="4800600"/>
            <a:ext cx="941832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7B4A5C"/>
                </a:solidFill>
                <a:latin typeface="メイリオ"/>
                <a:ea typeface="メイリオ"/>
              </a:rPr>
              <a:t>自動リマインド・自動バックアップ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11680" y="5303520"/>
            <a:ext cx="9418320" cy="7772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</a:rPr>
              <a:t>前日に自動でお客様へリマインドLINE。週次で自動バックアップ。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</a:rPr>
              <a:t>「うっかり忘れ」も「データ消失」も、仕組みで防ぎます。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" y="6446520"/>
            <a:ext cx="54864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</a:rPr>
              <a:t>サロン顧客管理システム ご提案資料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0" y="6446520"/>
            <a:ext cx="146304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</a:rPr>
              <a:t>4 / 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65760" y="274320"/>
            <a:ext cx="548640" cy="548640"/>
          </a:xfrm>
          <a:prstGeom prst="ellipse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56032"/>
            <a:ext cx="10058400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7B4A5C"/>
                </a:solidFill>
                <a:latin typeface="メイリオ"/>
                <a:ea typeface="メイリオ"/>
              </a:rPr>
              <a:t>顧客体験① LINEで予約完結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960120"/>
            <a:ext cx="11430000" cy="18000"/>
          </a:xfrm>
          <a:prstGeom prst="rect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188720"/>
            <a:ext cx="1097280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7B4A5C"/>
                </a:solidFill>
                <a:latin typeface="メイリオ"/>
                <a:ea typeface="メイリオ"/>
              </a:rPr>
              <a:t>お客様はLINEアプリひとつで、24時間いつでも予約できます。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828800"/>
            <a:ext cx="3200400" cy="4114800"/>
          </a:xfrm>
          <a:prstGeom prst="roundRect">
            <a:avLst/>
          </a:prstGeom>
          <a:solidFill>
            <a:srgbClr val="EEEEEE"/>
          </a:solidFill>
          <a:ln w="25400">
            <a:solidFill>
              <a:srgbClr val="7B4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920240"/>
            <a:ext cx="3017520" cy="365760"/>
          </a:xfrm>
          <a:prstGeom prst="rect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920240"/>
            <a:ext cx="301752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FFFFFF"/>
                </a:solidFill>
                <a:latin typeface="メイリオ"/>
                <a:ea typeface="メイリオ"/>
              </a:rPr>
              <a:t>① メニューを開く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331720"/>
            <a:ext cx="3017520" cy="3520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77240" y="2971800"/>
            <a:ext cx="777240" cy="731520"/>
          </a:xfrm>
          <a:prstGeom prst="roundRect">
            <a:avLst/>
          </a:prstGeom>
          <a:solidFill>
            <a:srgbClr val="D46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2971800"/>
            <a:ext cx="777240" cy="7315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latin typeface="メイリオ"/>
                <a:ea typeface="メイリオ"/>
              </a:rPr>
              <a:t>予約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600200" y="2971800"/>
            <a:ext cx="777240" cy="731520"/>
          </a:xfrm>
          <a:prstGeom prst="round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00200" y="2971800"/>
            <a:ext cx="777240" cy="7315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latin typeface="メイリオ"/>
                <a:ea typeface="メイリオ"/>
              </a:rPr>
              <a:t>変更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423160" y="2971800"/>
            <a:ext cx="777240" cy="731520"/>
          </a:xfrm>
          <a:prstGeom prst="roundRect">
            <a:avLst/>
          </a:prstGeom>
          <a:solidFill>
            <a:srgbClr val="7B4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423160" y="2971800"/>
            <a:ext cx="777240" cy="7315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latin typeface="メイリオ"/>
                <a:ea typeface="メイリオ"/>
              </a:rPr>
              <a:t>キャンセル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3749040"/>
            <a:ext cx="777240" cy="731520"/>
          </a:xfrm>
          <a:prstGeom prst="roundRect">
            <a:avLst/>
          </a:prstGeom>
          <a:solidFill>
            <a:srgbClr val="D46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3749040"/>
            <a:ext cx="777240" cy="7315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latin typeface="メイリオ"/>
                <a:ea typeface="メイリオ"/>
              </a:rPr>
              <a:t>残回数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600200" y="3749040"/>
            <a:ext cx="777240" cy="731520"/>
          </a:xfrm>
          <a:prstGeom prst="round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600200" y="3749040"/>
            <a:ext cx="777240" cy="7315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latin typeface="メイリオ"/>
                <a:ea typeface="メイリオ"/>
              </a:rPr>
              <a:t>営業日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423160" y="3749040"/>
            <a:ext cx="777240" cy="731520"/>
          </a:xfrm>
          <a:prstGeom prst="roundRect">
            <a:avLst/>
          </a:prstGeom>
          <a:solidFill>
            <a:srgbClr val="7B4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23160" y="3749040"/>
            <a:ext cx="777240" cy="7315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latin typeface="メイリオ"/>
                <a:ea typeface="メイリオ"/>
              </a:rPr>
              <a:t>お問合せ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2423160"/>
            <a:ext cx="301752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</a:rPr>
              <a:t>リッチメニュー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480560" y="1828800"/>
            <a:ext cx="3200400" cy="4114800"/>
          </a:xfrm>
          <a:prstGeom prst="roundRect">
            <a:avLst/>
          </a:prstGeom>
          <a:solidFill>
            <a:srgbClr val="EEEEEE"/>
          </a:solidFill>
          <a:ln w="25400">
            <a:solidFill>
              <a:srgbClr val="7B4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72000" y="1920240"/>
            <a:ext cx="3017520" cy="365760"/>
          </a:xfrm>
          <a:prstGeom prst="rect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0" y="1920240"/>
            <a:ext cx="301752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FFFFFF"/>
                </a:solidFill>
                <a:latin typeface="メイリオ"/>
                <a:ea typeface="メイリオ"/>
              </a:rPr>
              <a:t>② 日付を選ぶ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0" y="2331720"/>
            <a:ext cx="3017520" cy="3520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0" y="2423160"/>
            <a:ext cx="301752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7B4A5C"/>
                </a:solidFill>
                <a:latin typeface="メイリオ"/>
                <a:ea typeface="メイリオ"/>
              </a:rPr>
              <a:t>2026年4月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0" y="2743200"/>
            <a:ext cx="431074" cy="1828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</a:rPr>
              <a:t>日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03074" y="2743200"/>
            <a:ext cx="431074" cy="1828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</a:rPr>
              <a:t>月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34148" y="2743200"/>
            <a:ext cx="431074" cy="1828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</a:rPr>
              <a:t>火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65222" y="2743200"/>
            <a:ext cx="431074" cy="1828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</a:rPr>
              <a:t>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96297" y="2743200"/>
            <a:ext cx="431074" cy="1828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</a:rPr>
              <a:t>木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27371" y="2743200"/>
            <a:ext cx="431074" cy="1828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</a:rPr>
              <a:t>金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158445" y="2743200"/>
            <a:ext cx="431074" cy="1828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</a:rPr>
              <a:t>土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2971800"/>
            <a:ext cx="431074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700" b="0">
                <a:solidFill>
                  <a:srgbClr val="333333"/>
                </a:solidFill>
                <a:latin typeface="メイリオ"/>
                <a:ea typeface="メイリオ"/>
              </a:rPr>
              <a:t>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0" y="3136392"/>
            <a:ext cx="431074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>
                <a:solidFill>
                  <a:srgbClr val="5CB85C"/>
                </a:solidFill>
                <a:latin typeface="メイリオ"/>
                <a:ea typeface="メイリオ"/>
              </a:rPr>
              <a:t>○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03074" y="2971800"/>
            <a:ext cx="431074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700" b="0">
                <a:solidFill>
                  <a:srgbClr val="333333"/>
                </a:solidFill>
                <a:latin typeface="メイリオ"/>
                <a:ea typeface="メイリオ"/>
              </a:rPr>
              <a:t>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03074" y="3136392"/>
            <a:ext cx="431074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>
                <a:solidFill>
                  <a:srgbClr val="D9534F"/>
                </a:solidFill>
                <a:latin typeface="メイリオ"/>
                <a:ea typeface="メイリオ"/>
              </a:rPr>
              <a:t>×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34148" y="2971800"/>
            <a:ext cx="431074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700" b="0">
                <a:solidFill>
                  <a:srgbClr val="333333"/>
                </a:solidFill>
                <a:latin typeface="メイリオ"/>
                <a:ea typeface="メイリオ"/>
              </a:rPr>
              <a:t>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34148" y="3136392"/>
            <a:ext cx="431074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>
                <a:solidFill>
                  <a:srgbClr val="5CB85C"/>
                </a:solidFill>
                <a:latin typeface="メイリオ"/>
                <a:ea typeface="メイリオ"/>
              </a:rPr>
              <a:t>○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65222" y="2971800"/>
            <a:ext cx="431074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700" b="0">
                <a:solidFill>
                  <a:srgbClr val="333333"/>
                </a:solidFill>
                <a:latin typeface="メイリオ"/>
                <a:ea typeface="メイリオ"/>
              </a:rPr>
              <a:t>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865222" y="3136392"/>
            <a:ext cx="431074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>
                <a:solidFill>
                  <a:srgbClr val="5CB85C"/>
                </a:solidFill>
                <a:latin typeface="メイリオ"/>
                <a:ea typeface="メイリオ"/>
              </a:rPr>
              <a:t>○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96297" y="2971800"/>
            <a:ext cx="431074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700" b="0">
                <a:solidFill>
                  <a:srgbClr val="333333"/>
                </a:solidFill>
                <a:latin typeface="メイリオ"/>
                <a:ea typeface="メイリオ"/>
              </a:rPr>
              <a:t>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296297" y="3136392"/>
            <a:ext cx="431074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>
                <a:solidFill>
                  <a:srgbClr val="888888"/>
                </a:solidFill>
                <a:latin typeface="メイリオ"/>
                <a:ea typeface="メイリオ"/>
              </a:rPr>
              <a:t>-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27371" y="2971800"/>
            <a:ext cx="431074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700" b="0">
                <a:solidFill>
                  <a:srgbClr val="333333"/>
                </a:solidFill>
                <a:latin typeface="メイリオ"/>
                <a:ea typeface="メイリオ"/>
              </a:rPr>
              <a:t>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727371" y="3136392"/>
            <a:ext cx="431074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>
                <a:solidFill>
                  <a:srgbClr val="5CB85C"/>
                </a:solidFill>
                <a:latin typeface="メイリオ"/>
                <a:ea typeface="メイリオ"/>
              </a:rPr>
              <a:t>○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158445" y="2971800"/>
            <a:ext cx="431074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700" b="0">
                <a:solidFill>
                  <a:srgbClr val="333333"/>
                </a:solidFill>
                <a:latin typeface="メイリオ"/>
                <a:ea typeface="メイリオ"/>
              </a:rPr>
              <a:t>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158445" y="3136392"/>
            <a:ext cx="431074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>
                <a:solidFill>
                  <a:srgbClr val="5CB85C"/>
                </a:solidFill>
                <a:latin typeface="メイリオ"/>
                <a:ea typeface="メイリオ"/>
              </a:rPr>
              <a:t>○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0" y="3429000"/>
            <a:ext cx="431074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700" b="0">
                <a:solidFill>
                  <a:srgbClr val="333333"/>
                </a:solidFill>
                <a:latin typeface="メイリオ"/>
                <a:ea typeface="メイリオ"/>
              </a:rPr>
              <a:t>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0" y="3593592"/>
            <a:ext cx="431074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>
                <a:solidFill>
                  <a:srgbClr val="5CB85C"/>
                </a:solidFill>
                <a:latin typeface="メイリオ"/>
                <a:ea typeface="メイリオ"/>
              </a:rPr>
              <a:t>○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003074" y="3429000"/>
            <a:ext cx="431074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700" b="0">
                <a:solidFill>
                  <a:srgbClr val="333333"/>
                </a:solidFill>
                <a:latin typeface="メイリオ"/>
                <a:ea typeface="メイリオ"/>
              </a:rPr>
              <a:t>9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003074" y="3593592"/>
            <a:ext cx="431074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>
                <a:solidFill>
                  <a:srgbClr val="5CB85C"/>
                </a:solidFill>
                <a:latin typeface="メイリオ"/>
                <a:ea typeface="メイリオ"/>
              </a:rPr>
              <a:t>○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434148" y="3429000"/>
            <a:ext cx="431074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700" b="0">
                <a:solidFill>
                  <a:srgbClr val="333333"/>
                </a:solidFill>
                <a:latin typeface="メイリオ"/>
                <a:ea typeface="メイリオ"/>
              </a:rPr>
              <a:t>10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34148" y="3593592"/>
            <a:ext cx="431074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>
                <a:solidFill>
                  <a:srgbClr val="D9534F"/>
                </a:solidFill>
                <a:latin typeface="メイリオ"/>
                <a:ea typeface="メイリオ"/>
              </a:rPr>
              <a:t>×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865222" y="3429000"/>
            <a:ext cx="431074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700" b="0">
                <a:solidFill>
                  <a:srgbClr val="333333"/>
                </a:solidFill>
                <a:latin typeface="メイリオ"/>
                <a:ea typeface="メイリオ"/>
              </a:rPr>
              <a:t>11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865222" y="3593592"/>
            <a:ext cx="431074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>
                <a:solidFill>
                  <a:srgbClr val="5CB85C"/>
                </a:solidFill>
                <a:latin typeface="メイリオ"/>
                <a:ea typeface="メイリオ"/>
              </a:rPr>
              <a:t>○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296297" y="3429000"/>
            <a:ext cx="431074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700" b="0">
                <a:solidFill>
                  <a:srgbClr val="333333"/>
                </a:solidFill>
                <a:latin typeface="メイリオ"/>
                <a:ea typeface="メイリオ"/>
              </a:rPr>
              <a:t>12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296297" y="3593592"/>
            <a:ext cx="431074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>
                <a:solidFill>
                  <a:srgbClr val="5CB85C"/>
                </a:solidFill>
                <a:latin typeface="メイリオ"/>
                <a:ea typeface="メイリオ"/>
              </a:rPr>
              <a:t>○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727371" y="3429000"/>
            <a:ext cx="431074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700" b="0">
                <a:solidFill>
                  <a:srgbClr val="333333"/>
                </a:solidFill>
                <a:latin typeface="メイリオ"/>
                <a:ea typeface="メイリオ"/>
              </a:rPr>
              <a:t>13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727371" y="3593592"/>
            <a:ext cx="431074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>
                <a:solidFill>
                  <a:srgbClr val="888888"/>
                </a:solidFill>
                <a:latin typeface="メイリオ"/>
                <a:ea typeface="メイリオ"/>
              </a:rPr>
              <a:t>-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158445" y="3429000"/>
            <a:ext cx="431074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700" b="0">
                <a:solidFill>
                  <a:srgbClr val="333333"/>
                </a:solidFill>
                <a:latin typeface="メイリオ"/>
                <a:ea typeface="メイリオ"/>
              </a:rPr>
              <a:t>14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158445" y="3593592"/>
            <a:ext cx="431074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>
                <a:solidFill>
                  <a:srgbClr val="5CB85C"/>
                </a:solidFill>
                <a:latin typeface="メイリオ"/>
                <a:ea typeface="メイリオ"/>
              </a:rPr>
              <a:t>○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572000" y="3886200"/>
            <a:ext cx="431074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700" b="0">
                <a:solidFill>
                  <a:srgbClr val="333333"/>
                </a:solidFill>
                <a:latin typeface="メイリオ"/>
                <a:ea typeface="メイリオ"/>
              </a:rPr>
              <a:t>15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572000" y="4050792"/>
            <a:ext cx="431074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>
                <a:solidFill>
                  <a:srgbClr val="888888"/>
                </a:solidFill>
                <a:latin typeface="メイリオ"/>
                <a:ea typeface="メイリオ"/>
              </a:rPr>
              <a:t>-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003074" y="3886200"/>
            <a:ext cx="431074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700" b="0">
                <a:solidFill>
                  <a:srgbClr val="333333"/>
                </a:solidFill>
                <a:latin typeface="メイリオ"/>
                <a:ea typeface="メイリオ"/>
              </a:rPr>
              <a:t>16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003074" y="4050792"/>
            <a:ext cx="431074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>
                <a:solidFill>
                  <a:srgbClr val="5CB85C"/>
                </a:solidFill>
                <a:latin typeface="メイリオ"/>
                <a:ea typeface="メイリオ"/>
              </a:rPr>
              <a:t>○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34148" y="3886200"/>
            <a:ext cx="431074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700" b="0">
                <a:solidFill>
                  <a:srgbClr val="333333"/>
                </a:solidFill>
                <a:latin typeface="メイリオ"/>
                <a:ea typeface="メイリオ"/>
              </a:rPr>
              <a:t>17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434148" y="4050792"/>
            <a:ext cx="431074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>
                <a:solidFill>
                  <a:srgbClr val="5CB85C"/>
                </a:solidFill>
                <a:latin typeface="メイリオ"/>
                <a:ea typeface="メイリオ"/>
              </a:rPr>
              <a:t>○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865222" y="3886200"/>
            <a:ext cx="431074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700" b="0">
                <a:solidFill>
                  <a:srgbClr val="333333"/>
                </a:solidFill>
                <a:latin typeface="メイリオ"/>
                <a:ea typeface="メイリオ"/>
              </a:rPr>
              <a:t>18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865222" y="4050792"/>
            <a:ext cx="431074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>
                <a:solidFill>
                  <a:srgbClr val="D9534F"/>
                </a:solidFill>
                <a:latin typeface="メイリオ"/>
                <a:ea typeface="メイリオ"/>
              </a:rPr>
              <a:t>×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296297" y="3886200"/>
            <a:ext cx="431074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700" b="0">
                <a:solidFill>
                  <a:srgbClr val="333333"/>
                </a:solidFill>
                <a:latin typeface="メイリオ"/>
                <a:ea typeface="メイリオ"/>
              </a:rPr>
              <a:t>19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296297" y="4050792"/>
            <a:ext cx="431074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>
                <a:solidFill>
                  <a:srgbClr val="5CB85C"/>
                </a:solidFill>
                <a:latin typeface="メイリオ"/>
                <a:ea typeface="メイリオ"/>
              </a:rPr>
              <a:t>○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727371" y="3886200"/>
            <a:ext cx="431074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700" b="0">
                <a:solidFill>
                  <a:srgbClr val="333333"/>
                </a:solidFill>
                <a:latin typeface="メイリオ"/>
                <a:ea typeface="メイリオ"/>
              </a:rPr>
              <a:t>20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727371" y="4050792"/>
            <a:ext cx="431074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>
                <a:solidFill>
                  <a:srgbClr val="5CB85C"/>
                </a:solidFill>
                <a:latin typeface="メイリオ"/>
                <a:ea typeface="メイリオ"/>
              </a:rPr>
              <a:t>○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158445" y="3886200"/>
            <a:ext cx="431074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700" b="0">
                <a:solidFill>
                  <a:srgbClr val="333333"/>
                </a:solidFill>
                <a:latin typeface="メイリオ"/>
                <a:ea typeface="メイリオ"/>
              </a:rPr>
              <a:t>21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158445" y="4050792"/>
            <a:ext cx="431074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>
                <a:solidFill>
                  <a:srgbClr val="5CB85C"/>
                </a:solidFill>
                <a:latin typeface="メイリオ"/>
                <a:ea typeface="メイリオ"/>
              </a:rPr>
              <a:t>○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8412480" y="1828800"/>
            <a:ext cx="3200400" cy="4114800"/>
          </a:xfrm>
          <a:prstGeom prst="roundRect">
            <a:avLst/>
          </a:prstGeom>
          <a:solidFill>
            <a:srgbClr val="EEEEEE"/>
          </a:solidFill>
          <a:ln w="25400">
            <a:solidFill>
              <a:srgbClr val="7B4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8503920" y="1920240"/>
            <a:ext cx="3017520" cy="365760"/>
          </a:xfrm>
          <a:prstGeom prst="rect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8503920" y="1920240"/>
            <a:ext cx="301752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FFFFFF"/>
                </a:solidFill>
                <a:latin typeface="メイリオ"/>
                <a:ea typeface="メイリオ"/>
              </a:rPr>
              <a:t>③ 時間を選んで確定</a:t>
            </a:r>
          </a:p>
        </p:txBody>
      </p:sp>
      <p:sp>
        <p:nvSpPr>
          <p:cNvPr id="83" name="Rectangle 82"/>
          <p:cNvSpPr/>
          <p:nvPr/>
        </p:nvSpPr>
        <p:spPr>
          <a:xfrm>
            <a:off x="8503920" y="2331720"/>
            <a:ext cx="3017520" cy="3520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503920" y="2423160"/>
            <a:ext cx="301752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7B4A5C"/>
                </a:solidFill>
                <a:latin typeface="メイリオ"/>
                <a:ea typeface="メイリオ"/>
              </a:rPr>
              <a:t>4月8日（水）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8641080" y="2788920"/>
            <a:ext cx="2743200" cy="274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6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8641080" y="2788920"/>
            <a:ext cx="2743200" cy="274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>
                <a:solidFill>
                  <a:srgbClr val="333333"/>
                </a:solidFill>
                <a:latin typeface="メイリオ"/>
                <a:ea typeface="メイリオ"/>
              </a:rPr>
              <a:t>10:00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8641080" y="3136392"/>
            <a:ext cx="2743200" cy="274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6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8641080" y="3136392"/>
            <a:ext cx="2743200" cy="274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>
                <a:solidFill>
                  <a:srgbClr val="333333"/>
                </a:solidFill>
                <a:latin typeface="メイリオ"/>
                <a:ea typeface="メイリオ"/>
              </a:rPr>
              <a:t>11:00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8641080" y="3483864"/>
            <a:ext cx="2743200" cy="274320"/>
          </a:xfrm>
          <a:prstGeom prst="roundRect">
            <a:avLst/>
          </a:prstGeom>
          <a:solidFill>
            <a:srgbClr val="D4688A"/>
          </a:solidFill>
          <a:ln w="9525">
            <a:solidFill>
              <a:srgbClr val="D46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641080" y="3483864"/>
            <a:ext cx="2743200" cy="274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latin typeface="メイリオ"/>
                <a:ea typeface="メイリオ"/>
              </a:rPr>
              <a:t>13:00 ✓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8641080" y="3831336"/>
            <a:ext cx="2743200" cy="274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6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8641080" y="3831336"/>
            <a:ext cx="2743200" cy="274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>
                <a:solidFill>
                  <a:srgbClr val="333333"/>
                </a:solidFill>
                <a:latin typeface="メイリオ"/>
                <a:ea typeface="メイリオ"/>
              </a:rPr>
              <a:t>14:00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8641080" y="4178808"/>
            <a:ext cx="2743200" cy="274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6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8641080" y="4178808"/>
            <a:ext cx="2743200" cy="274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>
                <a:solidFill>
                  <a:srgbClr val="333333"/>
                </a:solidFill>
                <a:latin typeface="メイリオ"/>
                <a:ea typeface="メイリオ"/>
              </a:rPr>
              <a:t>15:00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8641080" y="4526280"/>
            <a:ext cx="2743200" cy="274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6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8641080" y="4526280"/>
            <a:ext cx="2743200" cy="274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>
                <a:solidFill>
                  <a:srgbClr val="333333"/>
                </a:solidFill>
                <a:latin typeface="メイリオ"/>
                <a:ea typeface="メイリオ"/>
              </a:rPr>
              <a:t>16:00</a:t>
            </a:r>
          </a:p>
        </p:txBody>
      </p:sp>
      <p:sp>
        <p:nvSpPr>
          <p:cNvPr id="97" name="Right Arrow 96"/>
          <p:cNvSpPr/>
          <p:nvPr/>
        </p:nvSpPr>
        <p:spPr>
          <a:xfrm>
            <a:off x="3886200" y="3657600"/>
            <a:ext cx="457200" cy="457200"/>
          </a:xfrm>
          <a:prstGeom prst="rightArrow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ight Arrow 97"/>
          <p:cNvSpPr/>
          <p:nvPr/>
        </p:nvSpPr>
        <p:spPr>
          <a:xfrm>
            <a:off x="7818120" y="3657600"/>
            <a:ext cx="457200" cy="457200"/>
          </a:xfrm>
          <a:prstGeom prst="rightArrow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ounded Rectangle 98"/>
          <p:cNvSpPr/>
          <p:nvPr/>
        </p:nvSpPr>
        <p:spPr>
          <a:xfrm>
            <a:off x="3200400" y="6035040"/>
            <a:ext cx="5760720" cy="457200"/>
          </a:xfrm>
          <a:prstGeom prst="round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3200400" y="6035040"/>
            <a:ext cx="5760720" cy="4572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</a:rPr>
              <a:t>💡 アプリをインストールする必要ナシ！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74320" y="6446520"/>
            <a:ext cx="54864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</a:rPr>
              <a:t>サロン顧客管理システム ご提案資料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0515600" y="6446520"/>
            <a:ext cx="146304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</a:rPr>
              <a:t>5 / 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65760" y="274320"/>
            <a:ext cx="548640" cy="548640"/>
          </a:xfrm>
          <a:prstGeom prst="ellipse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56032"/>
            <a:ext cx="10058400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7B4A5C"/>
                </a:solidFill>
                <a:latin typeface="メイリオ"/>
                <a:ea typeface="メイリオ"/>
              </a:rPr>
              <a:t>顧客体験② 予約変更・キャンセル・残回数確認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960120"/>
            <a:ext cx="11430000" cy="18000"/>
          </a:xfrm>
          <a:prstGeom prst="rect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188720"/>
            <a:ext cx="1097280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7B4A5C"/>
                </a:solidFill>
                <a:latin typeface="メイリオ"/>
                <a:ea typeface="メイリオ"/>
              </a:rPr>
              <a:t>お客様の「ちょっとした用件」も、LINEで完結します。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828800"/>
            <a:ext cx="3657600" cy="34747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46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600200" y="2103120"/>
            <a:ext cx="1371600" cy="1371600"/>
          </a:xfrm>
          <a:prstGeom prst="ellipse">
            <a:avLst/>
          </a:prstGeom>
          <a:solidFill>
            <a:srgbClr val="FFF5F7"/>
          </a:solidFill>
          <a:ln w="19050">
            <a:solidFill>
              <a:srgbClr val="D468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00200" y="2103120"/>
            <a:ext cx="1371600" cy="13716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4800" b="0">
                <a:solidFill>
                  <a:srgbClr val="333333"/>
                </a:solidFill>
                <a:latin typeface="メイリオ"/>
                <a:ea typeface="メイリオ"/>
              </a:rPr>
              <a:t>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657600"/>
            <a:ext cx="365760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>
                <a:solidFill>
                  <a:srgbClr val="7B4A5C"/>
                </a:solidFill>
                <a:latin typeface="メイリオ"/>
                <a:ea typeface="メイリオ"/>
              </a:rPr>
              <a:t>予約変更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206240"/>
            <a:ext cx="3291840" cy="10972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</a:rPr>
              <a:t>日時の変更がLINEから可能。</a:t>
            </a:r>
          </a:p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</a:rPr>
              <a:t>予約確認メッセージの</a:t>
            </a:r>
          </a:p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</a:rPr>
              <a:t>「変更する」ボタン1タップ。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9120" y="1828800"/>
            <a:ext cx="3657600" cy="34747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46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532120" y="2103120"/>
            <a:ext cx="1371600" cy="1371600"/>
          </a:xfrm>
          <a:prstGeom prst="ellipse">
            <a:avLst/>
          </a:prstGeom>
          <a:solidFill>
            <a:srgbClr val="FFF5F7"/>
          </a:solidFill>
          <a:ln w="19050">
            <a:solidFill>
              <a:srgbClr val="D468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32120" y="2103120"/>
            <a:ext cx="1371600" cy="13716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4800" b="0">
                <a:solidFill>
                  <a:srgbClr val="333333"/>
                </a:solidFill>
                <a:latin typeface="メイリオ"/>
                <a:ea typeface="メイリオ"/>
              </a:rPr>
              <a:t>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3657600"/>
            <a:ext cx="365760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>
                <a:solidFill>
                  <a:srgbClr val="7B4A5C"/>
                </a:solidFill>
                <a:latin typeface="メイリオ"/>
                <a:ea typeface="メイリオ"/>
              </a:rPr>
              <a:t>予約キャンセル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4206240"/>
            <a:ext cx="3291840" cy="10972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</a:rPr>
              <a:t>急な用事でもLINEで即キャンセル。</a:t>
            </a:r>
          </a:p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</a:rPr>
              <a:t>キャンセル料ポリシーも</a:t>
            </a:r>
          </a:p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</a:rPr>
              <a:t>自動で事前表示。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21040" y="1828800"/>
            <a:ext cx="3657600" cy="34747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46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464040" y="2103120"/>
            <a:ext cx="1371600" cy="1371600"/>
          </a:xfrm>
          <a:prstGeom prst="ellipse">
            <a:avLst/>
          </a:prstGeom>
          <a:solidFill>
            <a:srgbClr val="FFF5F7"/>
          </a:solidFill>
          <a:ln w="19050">
            <a:solidFill>
              <a:srgbClr val="D468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64040" y="2103120"/>
            <a:ext cx="1371600" cy="13716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4800" b="0">
                <a:solidFill>
                  <a:srgbClr val="333333"/>
                </a:solidFill>
                <a:latin typeface="メイリオ"/>
                <a:ea typeface="メイリオ"/>
              </a:rPr>
              <a:t>📊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3657600"/>
            <a:ext cx="365760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>
                <a:solidFill>
                  <a:srgbClr val="7B4A5C"/>
                </a:solidFill>
                <a:latin typeface="メイリオ"/>
                <a:ea typeface="メイリオ"/>
              </a:rPr>
              <a:t>コース残回数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4206240"/>
            <a:ext cx="3291840" cy="10972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</a:rPr>
              <a:t>「残回数」ボタンで現在の残数を</a:t>
            </a:r>
          </a:p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</a:rPr>
              <a:t>いつでも確認。</a:t>
            </a:r>
          </a:p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</a:rPr>
              <a:t>次回予約の目安にも。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371600" y="5760720"/>
            <a:ext cx="9445752" cy="548640"/>
          </a:xfrm>
          <a:prstGeom prst="roundRect">
            <a:avLst/>
          </a:prstGeom>
          <a:solidFill>
            <a:srgbClr val="D46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71600" y="5760720"/>
            <a:ext cx="9445752" cy="5486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</a:rPr>
              <a:t>💬 わざわざ電話する必要がない ＝ お客様の満足度UP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" y="6446520"/>
            <a:ext cx="54864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</a:rPr>
              <a:t>サロン顧客管理システム ご提案資料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0" y="6446520"/>
            <a:ext cx="146304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</a:rPr>
              <a:t>6 / 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65760" y="274320"/>
            <a:ext cx="548640" cy="548640"/>
          </a:xfrm>
          <a:prstGeom prst="ellipse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56032"/>
            <a:ext cx="10058400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7B4A5C"/>
                </a:solidFill>
                <a:latin typeface="メイリオ"/>
                <a:ea typeface="メイリオ"/>
              </a:rPr>
              <a:t>オーナー体験① ダッシュボード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960120"/>
            <a:ext cx="11430000" cy="18000"/>
          </a:xfrm>
          <a:prstGeom prst="rect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188720"/>
            <a:ext cx="1097280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7B4A5C"/>
                </a:solidFill>
                <a:latin typeface="メイリオ"/>
                <a:ea typeface="メイリオ"/>
              </a:rPr>
              <a:t>本日必要な情報が、ひと目でわかる画面設計。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783080"/>
            <a:ext cx="11064240" cy="4480560"/>
          </a:xfrm>
          <a:prstGeom prst="roundRect">
            <a:avLst/>
          </a:prstGeom>
          <a:solidFill>
            <a:srgbClr val="FFF5F7"/>
          </a:solidFill>
          <a:ln w="25400">
            <a:solidFill>
              <a:srgbClr val="D46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874519"/>
            <a:ext cx="10881360" cy="457200"/>
          </a:xfrm>
          <a:prstGeom prst="rect">
            <a:avLst/>
          </a:prstGeom>
          <a:solidFill>
            <a:srgbClr val="D46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874519"/>
            <a:ext cx="9144000" cy="4572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</a:rPr>
              <a:t>🌸 〇〇サロン  ダッシュボード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1874519"/>
            <a:ext cx="1828800" cy="4572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FFFFFF"/>
                </a:solidFill>
                <a:latin typeface="メイリオ"/>
                <a:ea typeface="メイリオ"/>
              </a:rPr>
              <a:t>2026/04/21 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2514600"/>
            <a:ext cx="2514600" cy="11887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46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2606040"/>
            <a:ext cx="25146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888888"/>
                </a:solidFill>
                <a:latin typeface="メイリオ"/>
                <a:ea typeface="メイリオ"/>
              </a:rPr>
              <a:t>本日の予約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2971800"/>
            <a:ext cx="2514600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>
                <a:solidFill>
                  <a:srgbClr val="D4688A"/>
                </a:solidFill>
                <a:latin typeface="メイリオ"/>
                <a:ea typeface="メイリオ"/>
              </a:rPr>
              <a:t>5件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520440" y="2514600"/>
            <a:ext cx="2514600" cy="11887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4A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20440" y="2606040"/>
            <a:ext cx="25146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888888"/>
                </a:solidFill>
                <a:latin typeface="メイリオ"/>
                <a:ea typeface="メイリオ"/>
              </a:rPr>
              <a:t>今月の売上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20440" y="2971800"/>
            <a:ext cx="2514600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>
                <a:solidFill>
                  <a:srgbClr val="D4A574"/>
                </a:solidFill>
                <a:latin typeface="メイリオ"/>
                <a:ea typeface="メイリオ"/>
              </a:rPr>
              <a:t>¥482,000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2514600"/>
            <a:ext cx="2514600" cy="11887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7B4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17920" y="2606040"/>
            <a:ext cx="25146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888888"/>
                </a:solidFill>
                <a:latin typeface="メイリオ"/>
                <a:ea typeface="メイリオ"/>
              </a:rPr>
              <a:t>登録顧客数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17920" y="2971800"/>
            <a:ext cx="2514600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>
                <a:solidFill>
                  <a:srgbClr val="7B4A5C"/>
                </a:solidFill>
                <a:latin typeface="メイリオ"/>
                <a:ea typeface="メイリオ"/>
              </a:rPr>
              <a:t>128名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15400" y="2514600"/>
            <a:ext cx="2514600" cy="11887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0A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15400" y="2606040"/>
            <a:ext cx="25146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888888"/>
                </a:solidFill>
                <a:latin typeface="メイリオ"/>
                <a:ea typeface="メイリオ"/>
              </a:rPr>
              <a:t>要注意顧客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15400" y="2971800"/>
            <a:ext cx="2514600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>
                <a:solidFill>
                  <a:srgbClr val="F0A040"/>
                </a:solidFill>
                <a:latin typeface="メイリオ"/>
                <a:ea typeface="メイリオ"/>
              </a:rPr>
              <a:t>3名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" y="3840480"/>
            <a:ext cx="68580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22960" y="3840480"/>
            <a:ext cx="6858000" cy="320040"/>
          </a:xfrm>
          <a:prstGeom prst="rect">
            <a:avLst/>
          </a:prstGeom>
          <a:solidFill>
            <a:srgbClr val="FFE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0120" y="3840480"/>
            <a:ext cx="6400800" cy="3200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7B4A5C"/>
                </a:solidFill>
                <a:latin typeface="メイリオ"/>
                <a:ea typeface="メイリオ"/>
              </a:rPr>
              <a:t>📅 本日の予約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4206240"/>
            <a:ext cx="109728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D4688A"/>
                </a:solidFill>
                <a:latin typeface="メイリオ"/>
                <a:ea typeface="メイリオ"/>
              </a:rPr>
              <a:t>10:00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94560" y="4206240"/>
            <a:ext cx="228600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田中 美咲様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0" y="4206240"/>
            <a:ext cx="292608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888888"/>
                </a:solidFill>
                <a:latin typeface="メイリオ"/>
                <a:ea typeface="メイリオ"/>
              </a:rPr>
              <a:t>カット＋カラー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" y="4663440"/>
            <a:ext cx="109728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D4688A"/>
                </a:solidFill>
                <a:latin typeface="メイリオ"/>
                <a:ea typeface="メイリオ"/>
              </a:rPr>
              <a:t>11:30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94560" y="4663440"/>
            <a:ext cx="228600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佐藤 健一様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0" y="4663440"/>
            <a:ext cx="292608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888888"/>
                </a:solidFill>
                <a:latin typeface="メイリオ"/>
                <a:ea typeface="メイリオ"/>
              </a:rPr>
              <a:t>フェイシャル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5840" y="5120640"/>
            <a:ext cx="109728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D4688A"/>
                </a:solidFill>
                <a:latin typeface="メイリオ"/>
                <a:ea typeface="メイリオ"/>
              </a:rPr>
              <a:t>13:00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94560" y="5120640"/>
            <a:ext cx="228600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鈴木 陽子様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0" y="5120640"/>
            <a:ext cx="292608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888888"/>
                </a:solidFill>
                <a:latin typeface="メイリオ"/>
                <a:ea typeface="メイリオ"/>
              </a:rPr>
              <a:t>コース (残3回)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05840" y="5577840"/>
            <a:ext cx="109728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D4688A"/>
                </a:solidFill>
                <a:latin typeface="メイリオ"/>
                <a:ea typeface="メイリオ"/>
              </a:rPr>
              <a:t>15:00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194560" y="5577840"/>
            <a:ext cx="228600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高橋 由美様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0" y="5577840"/>
            <a:ext cx="292608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888888"/>
                </a:solidFill>
                <a:latin typeface="メイリオ"/>
                <a:ea typeface="メイリオ"/>
              </a:rPr>
              <a:t>カット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863840" y="3840480"/>
            <a:ext cx="365760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5CB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955279" y="3886200"/>
            <a:ext cx="347472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5CB85C"/>
                </a:solidFill>
                <a:latin typeface="メイリオ"/>
                <a:ea typeface="メイリオ"/>
              </a:rPr>
              <a:t>💾 最新バックアップ ✓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4251960"/>
            <a:ext cx="3474720" cy="5486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333333"/>
                </a:solidFill>
                <a:latin typeface="メイリオ"/>
                <a:ea typeface="メイリオ"/>
              </a:rPr>
              <a:t>2026/04/19 05:00</a:t>
            </a:r>
          </a:p>
          <a:p>
            <a:pPr algn="l">
              <a:lnSpc>
                <a:spcPct val="120000"/>
              </a:lnSpc>
            </a:pPr>
            <a:r>
              <a:rPr sz="1000" b="0">
                <a:solidFill>
                  <a:srgbClr val="333333"/>
                </a:solidFill>
                <a:latin typeface="メイリオ"/>
                <a:ea typeface="メイリオ"/>
              </a:rPr>
              <a:t>（週次 毎週日曜5時）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863840" y="4937760"/>
            <a:ext cx="3657600" cy="1188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4A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955279" y="4983480"/>
            <a:ext cx="347472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7B4A5C"/>
                </a:solidFill>
                <a:latin typeface="メイリオ"/>
                <a:ea typeface="メイリオ"/>
              </a:rPr>
              <a:t>📊 売上サマリー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955279" y="5349240"/>
            <a:ext cx="3474720" cy="7315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333333"/>
                </a:solidFill>
                <a:latin typeface="メイリオ"/>
                <a:ea typeface="メイリオ"/>
              </a:rPr>
              <a:t>今週: ¥128,500</a:t>
            </a:r>
          </a:p>
          <a:p>
            <a:pPr algn="l">
              <a:lnSpc>
                <a:spcPct val="130000"/>
              </a:lnSpc>
            </a:pPr>
            <a:r>
              <a:rPr sz="1000" b="0">
                <a:solidFill>
                  <a:srgbClr val="333333"/>
                </a:solidFill>
                <a:latin typeface="メイリオ"/>
                <a:ea typeface="メイリオ"/>
              </a:rPr>
              <a:t>今月: ¥482,000</a:t>
            </a:r>
          </a:p>
          <a:p>
            <a:pPr algn="l">
              <a:lnSpc>
                <a:spcPct val="130000"/>
              </a:lnSpc>
            </a:pPr>
            <a:r>
              <a:rPr sz="1000" b="0">
                <a:solidFill>
                  <a:srgbClr val="333333"/>
                </a:solidFill>
                <a:latin typeface="メイリオ"/>
                <a:ea typeface="メイリオ"/>
              </a:rPr>
              <a:t>前月比: +12%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74320" y="6446520"/>
            <a:ext cx="54864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</a:rPr>
              <a:t>サロン顧客管理システム ご提案資料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515600" y="6446520"/>
            <a:ext cx="146304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</a:rPr>
              <a:t>7 / 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65760" y="274320"/>
            <a:ext cx="548640" cy="548640"/>
          </a:xfrm>
          <a:prstGeom prst="ellipse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56032"/>
            <a:ext cx="10058400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7B4A5C"/>
                </a:solidFill>
                <a:latin typeface="メイリオ"/>
                <a:ea typeface="メイリオ"/>
              </a:rPr>
              <a:t>オーナー体験② 顧客管理・コース残回数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960120"/>
            <a:ext cx="11430000" cy="18000"/>
          </a:xfrm>
          <a:prstGeom prst="rect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188720"/>
            <a:ext cx="1097280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7B4A5C"/>
                </a:solidFill>
                <a:latin typeface="メイリオ"/>
                <a:ea typeface="メイリオ"/>
              </a:rPr>
              <a:t>残回数が少なくなったお客様を、自動でピックアップ。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828800"/>
            <a:ext cx="758952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46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828800"/>
            <a:ext cx="7589520" cy="457200"/>
          </a:xfrm>
          <a:prstGeom prst="rect">
            <a:avLst/>
          </a:prstGeom>
          <a:solidFill>
            <a:srgbClr val="D46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828800"/>
            <a:ext cx="7315200" cy="4572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</a:rPr>
              <a:t>👥 顧客一覧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377440"/>
            <a:ext cx="100584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7B4A5C"/>
                </a:solidFill>
                <a:latin typeface="メイリオ"/>
                <a:ea typeface="メイリオ"/>
              </a:rPr>
              <a:t>顧客ID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377440"/>
            <a:ext cx="22860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7B4A5C"/>
                </a:solidFill>
                <a:latin typeface="メイリオ"/>
                <a:ea typeface="メイリオ"/>
              </a:rPr>
              <a:t>お名前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0" y="2377440"/>
            <a:ext cx="201168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7B4A5C"/>
                </a:solidFill>
                <a:latin typeface="メイリオ"/>
                <a:ea typeface="メイリオ"/>
              </a:rPr>
              <a:t>コース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2377440"/>
            <a:ext cx="118872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7B4A5C"/>
                </a:solidFill>
                <a:latin typeface="メイリオ"/>
                <a:ea typeface="メイリオ"/>
              </a:rPr>
              <a:t>残回数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0" y="2377440"/>
            <a:ext cx="9144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7B4A5C"/>
                </a:solidFill>
                <a:latin typeface="メイリオ"/>
                <a:ea typeface="メイリオ"/>
              </a:rPr>
              <a:t>来店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2743200"/>
            <a:ext cx="7498079" cy="411480"/>
          </a:xfrm>
          <a:prstGeom prst="rect">
            <a:avLst/>
          </a:prstGeom>
          <a:solidFill>
            <a:srgbClr val="FF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2743200"/>
            <a:ext cx="100584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>
                <a:solidFill>
                  <a:srgbClr val="7B4A5C"/>
                </a:solidFill>
                <a:latin typeface="メイリオ"/>
                <a:ea typeface="メイリオ"/>
              </a:rPr>
              <a:t>C001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2743200"/>
            <a:ext cx="228600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田中 美咲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80" y="2743200"/>
            <a:ext cx="201168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>
                <a:solidFill>
                  <a:srgbClr val="333333"/>
                </a:solidFill>
                <a:latin typeface="メイリオ"/>
                <a:ea typeface="メイリオ"/>
              </a:rPr>
              <a:t>フェイシャル10回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35040" y="2816352"/>
            <a:ext cx="822960" cy="274320"/>
          </a:xfrm>
          <a:prstGeom prst="roundRect">
            <a:avLst/>
          </a:prstGeom>
          <a:solidFill>
            <a:srgbClr val="5CB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35040" y="2816352"/>
            <a:ext cx="822960" cy="274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latin typeface="メイリオ"/>
                <a:ea typeface="メイリオ"/>
              </a:rPr>
              <a:t>8回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2743200"/>
            <a:ext cx="91440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>
                <a:solidFill>
                  <a:srgbClr val="333333"/>
                </a:solidFill>
                <a:latin typeface="メイリオ"/>
                <a:ea typeface="メイリオ"/>
              </a:rPr>
              <a:t>5回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3200400"/>
            <a:ext cx="100584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>
                <a:solidFill>
                  <a:srgbClr val="7B4A5C"/>
                </a:solidFill>
                <a:latin typeface="メイリオ"/>
                <a:ea typeface="メイリオ"/>
              </a:rPr>
              <a:t>C002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54480" y="3200400"/>
            <a:ext cx="228600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佐藤 健一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40480" y="3200400"/>
            <a:ext cx="201168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>
                <a:solidFill>
                  <a:srgbClr val="333333"/>
                </a:solidFill>
                <a:latin typeface="メイリオ"/>
                <a:ea typeface="メイリオ"/>
              </a:rPr>
              <a:t>ボディケア5回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035040" y="3273552"/>
            <a:ext cx="822960" cy="274320"/>
          </a:xfrm>
          <a:prstGeom prst="roundRect">
            <a:avLst/>
          </a:prstGeom>
          <a:solidFill>
            <a:srgbClr val="F0A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35040" y="3273552"/>
            <a:ext cx="822960" cy="274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latin typeface="メイリオ"/>
                <a:ea typeface="メイリオ"/>
              </a:rPr>
              <a:t>4回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40880" y="3200400"/>
            <a:ext cx="91440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>
                <a:solidFill>
                  <a:srgbClr val="333333"/>
                </a:solidFill>
                <a:latin typeface="メイリオ"/>
                <a:ea typeface="メイリオ"/>
              </a:rPr>
              <a:t>2回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3657600"/>
            <a:ext cx="7498079" cy="411480"/>
          </a:xfrm>
          <a:prstGeom prst="rect">
            <a:avLst/>
          </a:prstGeom>
          <a:solidFill>
            <a:srgbClr val="FF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8640" y="3657600"/>
            <a:ext cx="100584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>
                <a:solidFill>
                  <a:srgbClr val="7B4A5C"/>
                </a:solidFill>
                <a:latin typeface="メイリオ"/>
                <a:ea typeface="メイリオ"/>
              </a:rPr>
              <a:t>C003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54480" y="3657600"/>
            <a:ext cx="228600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鈴木 陽子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40480" y="3657600"/>
            <a:ext cx="201168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>
                <a:solidFill>
                  <a:srgbClr val="333333"/>
                </a:solidFill>
                <a:latin typeface="メイリオ"/>
                <a:ea typeface="メイリオ"/>
              </a:rPr>
              <a:t>ヘアトリートメント10回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035040" y="3730752"/>
            <a:ext cx="822960" cy="274320"/>
          </a:xfrm>
          <a:prstGeom prst="roundRect">
            <a:avLst/>
          </a:prstGeom>
          <a:solidFill>
            <a:srgbClr val="D95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35040" y="3730752"/>
            <a:ext cx="822960" cy="274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latin typeface="メイリオ"/>
                <a:ea typeface="メイリオ"/>
              </a:rPr>
              <a:t>1回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40880" y="3657600"/>
            <a:ext cx="91440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>
                <a:solidFill>
                  <a:srgbClr val="333333"/>
                </a:solidFill>
                <a:latin typeface="メイリオ"/>
                <a:ea typeface="メイリオ"/>
              </a:rPr>
              <a:t>8回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4114800"/>
            <a:ext cx="100584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>
                <a:solidFill>
                  <a:srgbClr val="7B4A5C"/>
                </a:solidFill>
                <a:latin typeface="メイリオ"/>
                <a:ea typeface="メイリオ"/>
              </a:rPr>
              <a:t>C004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554480" y="4114800"/>
            <a:ext cx="228600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高橋 由美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840480" y="4114800"/>
            <a:ext cx="201168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>
                <a:solidFill>
                  <a:srgbClr val="333333"/>
                </a:solidFill>
                <a:latin typeface="メイリオ"/>
                <a:ea typeface="メイリオ"/>
              </a:rPr>
              <a:t>カラー5回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035040" y="4187952"/>
            <a:ext cx="822960" cy="274320"/>
          </a:xfrm>
          <a:prstGeom prst="roundRect">
            <a:avLst/>
          </a:prstGeom>
          <a:solidFill>
            <a:srgbClr val="F0A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35040" y="4187952"/>
            <a:ext cx="822960" cy="274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latin typeface="メイリオ"/>
                <a:ea typeface="メイリオ"/>
              </a:rPr>
              <a:t>3回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040880" y="4114800"/>
            <a:ext cx="91440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>
                <a:solidFill>
                  <a:srgbClr val="333333"/>
                </a:solidFill>
                <a:latin typeface="メイリオ"/>
                <a:ea typeface="メイリオ"/>
              </a:rPr>
              <a:t>3回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2920" y="4572000"/>
            <a:ext cx="7498079" cy="411480"/>
          </a:xfrm>
          <a:prstGeom prst="rect">
            <a:avLst/>
          </a:prstGeom>
          <a:solidFill>
            <a:srgbClr val="FF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8640" y="4572000"/>
            <a:ext cx="100584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>
                <a:solidFill>
                  <a:srgbClr val="7B4A5C"/>
                </a:solidFill>
                <a:latin typeface="メイリオ"/>
                <a:ea typeface="メイリオ"/>
              </a:rPr>
              <a:t>C005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554480" y="4572000"/>
            <a:ext cx="228600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山田 花子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840480" y="4572000"/>
            <a:ext cx="201168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>
                <a:solidFill>
                  <a:srgbClr val="333333"/>
                </a:solidFill>
                <a:latin typeface="メイリオ"/>
                <a:ea typeface="メイリオ"/>
              </a:rPr>
              <a:t>コース終了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035040" y="4645152"/>
            <a:ext cx="822960" cy="274320"/>
          </a:xfrm>
          <a:prstGeom prst="roundRect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035040" y="4645152"/>
            <a:ext cx="822960" cy="274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latin typeface="メイリオ"/>
                <a:ea typeface="メイリオ"/>
              </a:rPr>
              <a:t>-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40880" y="4572000"/>
            <a:ext cx="91440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>
                <a:solidFill>
                  <a:srgbClr val="333333"/>
                </a:solidFill>
                <a:latin typeface="メイリオ"/>
                <a:ea typeface="メイリオ"/>
              </a:rPr>
              <a:t>12回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8640" y="5029200"/>
            <a:ext cx="100584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>
                <a:solidFill>
                  <a:srgbClr val="7B4A5C"/>
                </a:solidFill>
                <a:latin typeface="メイリオ"/>
                <a:ea typeface="メイリオ"/>
              </a:rPr>
              <a:t>C006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554480" y="5029200"/>
            <a:ext cx="228600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伊藤 明子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840480" y="5029200"/>
            <a:ext cx="201168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>
                <a:solidFill>
                  <a:srgbClr val="333333"/>
                </a:solidFill>
                <a:latin typeface="メイリオ"/>
                <a:ea typeface="メイリオ"/>
              </a:rPr>
              <a:t>フェイシャル20回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035040" y="5102352"/>
            <a:ext cx="822960" cy="274320"/>
          </a:xfrm>
          <a:prstGeom prst="roundRect">
            <a:avLst/>
          </a:prstGeom>
          <a:solidFill>
            <a:srgbClr val="5CB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035040" y="5102352"/>
            <a:ext cx="822960" cy="274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latin typeface="メイリオ"/>
                <a:ea typeface="メイリオ"/>
              </a:rPr>
              <a:t>15回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040880" y="5029200"/>
            <a:ext cx="91440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>
                <a:solidFill>
                  <a:srgbClr val="333333"/>
                </a:solidFill>
                <a:latin typeface="メイリオ"/>
                <a:ea typeface="メイリオ"/>
              </a:rPr>
              <a:t>6回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02920" y="5486400"/>
            <a:ext cx="7498079" cy="411480"/>
          </a:xfrm>
          <a:prstGeom prst="rect">
            <a:avLst/>
          </a:prstGeom>
          <a:solidFill>
            <a:srgbClr val="FF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48640" y="5486400"/>
            <a:ext cx="100584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>
                <a:solidFill>
                  <a:srgbClr val="7B4A5C"/>
                </a:solidFill>
                <a:latin typeface="メイリオ"/>
                <a:ea typeface="メイリオ"/>
              </a:rPr>
              <a:t>C007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554480" y="5486400"/>
            <a:ext cx="228600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渡辺 梨花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840480" y="5486400"/>
            <a:ext cx="201168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>
                <a:solidFill>
                  <a:srgbClr val="333333"/>
                </a:solidFill>
                <a:latin typeface="メイリオ"/>
                <a:ea typeface="メイリオ"/>
              </a:rPr>
              <a:t>ボディケア10回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035040" y="5559552"/>
            <a:ext cx="822960" cy="274320"/>
          </a:xfrm>
          <a:prstGeom prst="roundRect">
            <a:avLst/>
          </a:prstGeom>
          <a:solidFill>
            <a:srgbClr val="D95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035040" y="5559552"/>
            <a:ext cx="822960" cy="274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latin typeface="メイリオ"/>
                <a:ea typeface="メイリオ"/>
              </a:rPr>
              <a:t>2回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040880" y="5486400"/>
            <a:ext cx="91440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>
                <a:solidFill>
                  <a:srgbClr val="333333"/>
                </a:solidFill>
                <a:latin typeface="メイリオ"/>
                <a:ea typeface="メイリオ"/>
              </a:rPr>
              <a:t>9回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8229600" y="1828800"/>
            <a:ext cx="3474720" cy="2103120"/>
          </a:xfrm>
          <a:prstGeom prst="roundRect">
            <a:avLst/>
          </a:prstGeom>
          <a:solidFill>
            <a:srgbClr val="D95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229600" y="1920240"/>
            <a:ext cx="347472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</a:rPr>
              <a:t>⚠️ 要フォロー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321040" y="2377440"/>
            <a:ext cx="3291840" cy="1463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>
                <a:solidFill>
                  <a:srgbClr val="FFFFFF"/>
                </a:solidFill>
                <a:latin typeface="メイリオ"/>
                <a:ea typeface="メイリオ"/>
              </a:rPr>
              <a:t>残り4回以下の</a:t>
            </a:r>
          </a:p>
          <a:p>
            <a:pPr algn="ctr">
              <a:lnSpc>
                <a:spcPct val="130000"/>
              </a:lnSpc>
            </a:pPr>
            <a:r>
              <a:rPr sz="1200" b="0">
                <a:solidFill>
                  <a:srgbClr val="FFFFFF"/>
                </a:solidFill>
                <a:latin typeface="メイリオ"/>
                <a:ea typeface="メイリオ"/>
              </a:rPr>
              <a:t>お客様が3名います。</a:t>
            </a:r>
          </a:p>
          <a:p>
            <a:pPr algn="ctr">
              <a:lnSpc>
                <a:spcPct val="130000"/>
              </a:lnSpc>
            </a:pPr>
            <a:r>
              <a:rPr sz="1200" b="0">
                <a:solidFill>
                  <a:srgbClr val="FFFFFF"/>
                </a:solidFill>
                <a:latin typeface="メイリオ"/>
                <a:ea typeface="メイリオ"/>
              </a:rPr>
              <a:t/>
            </a:r>
          </a:p>
          <a:p>
            <a:pPr algn="ctr">
              <a:lnSpc>
                <a:spcPct val="130000"/>
              </a:lnSpc>
            </a:pPr>
            <a:r>
              <a:rPr sz="1200" b="0">
                <a:solidFill>
                  <a:srgbClr val="FFFFFF"/>
                </a:solidFill>
                <a:latin typeface="メイリオ"/>
                <a:ea typeface="メイリオ"/>
              </a:rPr>
              <a:t>コース追加のご案内を</a:t>
            </a:r>
          </a:p>
          <a:p>
            <a:pPr algn="ctr">
              <a:lnSpc>
                <a:spcPct val="130000"/>
              </a:lnSpc>
            </a:pPr>
            <a:r>
              <a:rPr sz="1200" b="0">
                <a:solidFill>
                  <a:srgbClr val="FFFFFF"/>
                </a:solidFill>
                <a:latin typeface="メイリオ"/>
                <a:ea typeface="メイリオ"/>
              </a:rPr>
              <a:t>お忘れなく！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8229600" y="4114800"/>
            <a:ext cx="3474720" cy="2103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46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229600" y="4206240"/>
            <a:ext cx="347472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7B4A5C"/>
                </a:solidFill>
                <a:latin typeface="メイリオ"/>
                <a:ea typeface="メイリオ"/>
              </a:rPr>
              <a:t>🏷️ バッジ色の見方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8412480" y="4709160"/>
            <a:ext cx="822960" cy="320040"/>
          </a:xfrm>
          <a:prstGeom prst="roundRect">
            <a:avLst/>
          </a:prstGeom>
          <a:solidFill>
            <a:srgbClr val="5CB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412480" y="4709160"/>
            <a:ext cx="822960" cy="3200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>
                <a:solidFill>
                  <a:srgbClr val="FFFFFF"/>
                </a:solidFill>
                <a:latin typeface="メイリオ"/>
                <a:ea typeface="メイリオ"/>
              </a:rPr>
              <a:t>5回以上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18320" y="4709160"/>
            <a:ext cx="2194560" cy="3200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余裕あり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8412480" y="5166360"/>
            <a:ext cx="822960" cy="320040"/>
          </a:xfrm>
          <a:prstGeom prst="roundRect">
            <a:avLst/>
          </a:prstGeom>
          <a:solidFill>
            <a:srgbClr val="F0A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412480" y="5166360"/>
            <a:ext cx="822960" cy="3200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>
                <a:solidFill>
                  <a:srgbClr val="FFFFFF"/>
                </a:solidFill>
                <a:latin typeface="メイリオ"/>
                <a:ea typeface="メイリオ"/>
              </a:rPr>
              <a:t>2〜4回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418320" y="5166360"/>
            <a:ext cx="2194560" cy="3200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そろそろ案内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8412480" y="5623560"/>
            <a:ext cx="822960" cy="320040"/>
          </a:xfrm>
          <a:prstGeom prst="roundRect">
            <a:avLst/>
          </a:prstGeom>
          <a:solidFill>
            <a:srgbClr val="D95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412480" y="5623560"/>
            <a:ext cx="822960" cy="3200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>
                <a:solidFill>
                  <a:srgbClr val="FFFFFF"/>
                </a:solidFill>
                <a:latin typeface="メイリオ"/>
                <a:ea typeface="メイリオ"/>
              </a:rPr>
              <a:t>1回以下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418320" y="5623560"/>
            <a:ext cx="2194560" cy="3200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要フォロー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74320" y="6446520"/>
            <a:ext cx="54864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</a:rPr>
              <a:t>サロン顧客管理システム ご提案資料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515600" y="6446520"/>
            <a:ext cx="146304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</a:rPr>
              <a:t>8 / 20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65760" y="274320"/>
            <a:ext cx="548640" cy="548640"/>
          </a:xfrm>
          <a:prstGeom prst="ellipse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56032"/>
            <a:ext cx="10058400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7B4A5C"/>
                </a:solidFill>
                <a:latin typeface="メイリオ"/>
                <a:ea typeface="メイリオ"/>
              </a:rPr>
              <a:t>オーナー体験③ 売上レポート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960120"/>
            <a:ext cx="11430000" cy="18000"/>
          </a:xfrm>
          <a:prstGeom prst="rect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188720"/>
            <a:ext cx="1097280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7B4A5C"/>
                </a:solidFill>
                <a:latin typeface="メイリオ"/>
                <a:ea typeface="メイリオ"/>
              </a:rPr>
              <a:t>月別・日別の売上が、グラフで一目瞭然。CSVでダウンロードも可能。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828800"/>
            <a:ext cx="685800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46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920240"/>
            <a:ext cx="64008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7B4A5C"/>
                </a:solidFill>
                <a:latin typeface="メイリオ"/>
                <a:ea typeface="メイリオ"/>
              </a:rPr>
              <a:t>📊 月別売上（過去12ヶ月）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334256"/>
            <a:ext cx="411480" cy="1152144"/>
          </a:xfrm>
          <a:prstGeom prst="rect">
            <a:avLst/>
          </a:prstGeom>
          <a:solidFill>
            <a:srgbClr val="FFE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5532120"/>
            <a:ext cx="448056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</a:rPr>
              <a:t>5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44168" y="4155034"/>
            <a:ext cx="411480" cy="1331366"/>
          </a:xfrm>
          <a:prstGeom prst="rect">
            <a:avLst/>
          </a:prstGeom>
          <a:solidFill>
            <a:srgbClr val="FFE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25880" y="5532120"/>
            <a:ext cx="448056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</a:rPr>
              <a:t>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65376" y="4257447"/>
            <a:ext cx="411480" cy="1228953"/>
          </a:xfrm>
          <a:prstGeom prst="rect">
            <a:avLst/>
          </a:prstGeom>
          <a:solidFill>
            <a:srgbClr val="FFE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847088" y="5532120"/>
            <a:ext cx="448056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</a:rPr>
              <a:t>7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386584" y="4078224"/>
            <a:ext cx="411480" cy="1408176"/>
          </a:xfrm>
          <a:prstGeom prst="rect">
            <a:avLst/>
          </a:prstGeom>
          <a:solidFill>
            <a:srgbClr val="FFE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368296" y="5532120"/>
            <a:ext cx="448056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</a:rPr>
              <a:t>8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907792" y="3950208"/>
            <a:ext cx="411480" cy="1536192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889504" y="5532120"/>
            <a:ext cx="448056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</a:rPr>
              <a:t>9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429000" y="3822192"/>
            <a:ext cx="411480" cy="1664208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10712" y="5532120"/>
            <a:ext cx="448056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</a:rPr>
              <a:t>10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950208" y="3694176"/>
            <a:ext cx="411480" cy="1792224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931920" y="5532120"/>
            <a:ext cx="448056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</a:rPr>
              <a:t>11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471416" y="3386938"/>
            <a:ext cx="411480" cy="2099462"/>
          </a:xfrm>
          <a:prstGeom prst="rect">
            <a:avLst/>
          </a:prstGeom>
          <a:solidFill>
            <a:srgbClr val="D46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53128" y="5532120"/>
            <a:ext cx="448056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</a:rPr>
              <a:t>12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992624" y="4001415"/>
            <a:ext cx="411480" cy="1484985"/>
          </a:xfrm>
          <a:prstGeom prst="rect">
            <a:avLst/>
          </a:prstGeom>
          <a:solidFill>
            <a:srgbClr val="FFE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74336" y="5532120"/>
            <a:ext cx="448056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</a:rPr>
              <a:t>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513832" y="3899002"/>
            <a:ext cx="411480" cy="1587398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95544" y="5532120"/>
            <a:ext cx="448056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</a:rPr>
              <a:t>2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35040" y="3566160"/>
            <a:ext cx="411480" cy="192024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016752" y="5532120"/>
            <a:ext cx="448056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</a:rPr>
              <a:t>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56248" y="3233319"/>
            <a:ext cx="411480" cy="2253081"/>
          </a:xfrm>
          <a:prstGeom prst="rect">
            <a:avLst/>
          </a:prstGeom>
          <a:solidFill>
            <a:srgbClr val="D46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37960" y="5532120"/>
            <a:ext cx="448056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2468880"/>
            <a:ext cx="32004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888888"/>
                </a:solidFill>
                <a:latin typeface="メイリオ"/>
                <a:ea typeface="メイリオ"/>
              </a:rPr>
              <a:t>¥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5806440"/>
            <a:ext cx="621792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888888"/>
                </a:solidFill>
                <a:latin typeface="メイリオ"/>
                <a:ea typeface="メイリオ"/>
              </a:rPr>
              <a:t>月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498079" y="1828800"/>
            <a:ext cx="420624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4A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680960" y="1920240"/>
            <a:ext cx="393192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7B4A5C"/>
                </a:solidFill>
                <a:latin typeface="メイリオ"/>
                <a:ea typeface="メイリオ"/>
              </a:rPr>
              <a:t>📁 支払い履歴ダウンロード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680960" y="2377440"/>
            <a:ext cx="3840480" cy="320040"/>
          </a:xfrm>
          <a:prstGeom prst="rect">
            <a:avLst/>
          </a:prstGeom>
          <a:solidFill>
            <a:srgbClr val="D46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680960" y="2377440"/>
            <a:ext cx="1280160" cy="3200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latin typeface="メイリオ"/>
                <a:ea typeface="メイリオ"/>
              </a:rPr>
              <a:t>日付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61120" y="2377440"/>
            <a:ext cx="1280160" cy="3200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latin typeface="メイリオ"/>
                <a:ea typeface="メイリオ"/>
              </a:rPr>
              <a:t>顧客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41280" y="2377440"/>
            <a:ext cx="1280160" cy="3200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latin typeface="メイリオ"/>
                <a:ea typeface="メイリオ"/>
              </a:rPr>
              <a:t>金額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680960" y="2697480"/>
            <a:ext cx="3840480" cy="274320"/>
          </a:xfrm>
          <a:prstGeom prst="rect">
            <a:avLst/>
          </a:prstGeom>
          <a:solidFill>
            <a:srgbClr val="FF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680960" y="2697480"/>
            <a:ext cx="1280160" cy="274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333333"/>
                </a:solidFill>
                <a:latin typeface="メイリオ"/>
                <a:ea typeface="メイリオ"/>
              </a:rPr>
              <a:t>04/20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61120" y="2697480"/>
            <a:ext cx="1280160" cy="274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333333"/>
                </a:solidFill>
                <a:latin typeface="メイリオ"/>
                <a:ea typeface="メイリオ"/>
              </a:rPr>
              <a:t>田中様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241280" y="2697480"/>
            <a:ext cx="1280160" cy="274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333333"/>
                </a:solidFill>
                <a:latin typeface="メイリオ"/>
                <a:ea typeface="メイリオ"/>
              </a:rPr>
              <a:t>¥8,500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80960" y="2990088"/>
            <a:ext cx="1280160" cy="274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333333"/>
                </a:solidFill>
                <a:latin typeface="メイリオ"/>
                <a:ea typeface="メイリオ"/>
              </a:rPr>
              <a:t>04/20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961120" y="2990088"/>
            <a:ext cx="1280160" cy="274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333333"/>
                </a:solidFill>
                <a:latin typeface="メイリオ"/>
                <a:ea typeface="メイリオ"/>
              </a:rPr>
              <a:t>佐藤様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241280" y="2990088"/>
            <a:ext cx="1280160" cy="274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333333"/>
                </a:solidFill>
                <a:latin typeface="メイリオ"/>
                <a:ea typeface="メイリオ"/>
              </a:rPr>
              <a:t>¥12,000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680960" y="3282696"/>
            <a:ext cx="3840480" cy="274320"/>
          </a:xfrm>
          <a:prstGeom prst="rect">
            <a:avLst/>
          </a:prstGeom>
          <a:solidFill>
            <a:srgbClr val="FF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680960" y="3282696"/>
            <a:ext cx="1280160" cy="274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333333"/>
                </a:solidFill>
                <a:latin typeface="メイリオ"/>
                <a:ea typeface="メイリオ"/>
              </a:rPr>
              <a:t>04/19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961120" y="3282696"/>
            <a:ext cx="1280160" cy="274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333333"/>
                </a:solidFill>
                <a:latin typeface="メイリオ"/>
                <a:ea typeface="メイリオ"/>
              </a:rPr>
              <a:t>鈴木様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241280" y="3282696"/>
            <a:ext cx="1280160" cy="274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333333"/>
                </a:solidFill>
                <a:latin typeface="メイリオ"/>
                <a:ea typeface="メイリオ"/>
              </a:rPr>
              <a:t>¥6,000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680960" y="3575304"/>
            <a:ext cx="1280160" cy="274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333333"/>
                </a:solidFill>
                <a:latin typeface="メイリオ"/>
                <a:ea typeface="メイリオ"/>
              </a:rPr>
              <a:t>04/19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961120" y="3575304"/>
            <a:ext cx="1280160" cy="274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333333"/>
                </a:solidFill>
                <a:latin typeface="メイリオ"/>
                <a:ea typeface="メイリオ"/>
              </a:rPr>
              <a:t>高橋様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241280" y="3575304"/>
            <a:ext cx="1280160" cy="274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333333"/>
                </a:solidFill>
                <a:latin typeface="メイリオ"/>
                <a:ea typeface="メイリオ"/>
              </a:rPr>
              <a:t>¥15,000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680960" y="3867912"/>
            <a:ext cx="3840480" cy="274320"/>
          </a:xfrm>
          <a:prstGeom prst="rect">
            <a:avLst/>
          </a:prstGeom>
          <a:solidFill>
            <a:srgbClr val="FF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680960" y="3867912"/>
            <a:ext cx="1280160" cy="274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333333"/>
                </a:solidFill>
                <a:latin typeface="メイリオ"/>
                <a:ea typeface="メイリオ"/>
              </a:rPr>
              <a:t>04/18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961120" y="3867912"/>
            <a:ext cx="1280160" cy="274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333333"/>
                </a:solidFill>
                <a:latin typeface="メイリオ"/>
                <a:ea typeface="メイリオ"/>
              </a:rPr>
              <a:t>山田様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241280" y="3867912"/>
            <a:ext cx="1280160" cy="274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333333"/>
                </a:solidFill>
                <a:latin typeface="メイリオ"/>
                <a:ea typeface="メイリオ"/>
              </a:rPr>
              <a:t>¥8,500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80960" y="4160520"/>
            <a:ext cx="1280160" cy="274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333333"/>
                </a:solidFill>
                <a:latin typeface="メイリオ"/>
                <a:ea typeface="メイリオ"/>
              </a:rPr>
              <a:t>04/18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961120" y="4160520"/>
            <a:ext cx="1280160" cy="274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333333"/>
                </a:solidFill>
                <a:latin typeface="メイリオ"/>
                <a:ea typeface="メイリオ"/>
              </a:rPr>
              <a:t>伊藤様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241280" y="4160520"/>
            <a:ext cx="1280160" cy="274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333333"/>
                </a:solidFill>
                <a:latin typeface="メイリオ"/>
                <a:ea typeface="メイリオ"/>
              </a:rPr>
              <a:t>¥22,000</a:t>
            </a:r>
          </a:p>
        </p:txBody>
      </p:sp>
      <p:sp>
        <p:nvSpPr>
          <p:cNvPr id="64" name="Rectangle 63"/>
          <p:cNvSpPr/>
          <p:nvPr/>
        </p:nvSpPr>
        <p:spPr>
          <a:xfrm>
            <a:off x="7680960" y="4453128"/>
            <a:ext cx="3840480" cy="274320"/>
          </a:xfrm>
          <a:prstGeom prst="rect">
            <a:avLst/>
          </a:prstGeom>
          <a:solidFill>
            <a:srgbClr val="FF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680960" y="4453128"/>
            <a:ext cx="1280160" cy="274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333333"/>
                </a:solidFill>
                <a:latin typeface="メイリオ"/>
                <a:ea typeface="メイリオ"/>
              </a:rPr>
              <a:t>04/17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961120" y="4453128"/>
            <a:ext cx="1280160" cy="274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333333"/>
                </a:solidFill>
                <a:latin typeface="メイリオ"/>
                <a:ea typeface="メイリオ"/>
              </a:rPr>
              <a:t>渡辺様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241280" y="4453128"/>
            <a:ext cx="1280160" cy="274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333333"/>
                </a:solidFill>
                <a:latin typeface="メイリオ"/>
                <a:ea typeface="メイリオ"/>
              </a:rPr>
              <a:t>¥8,500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8046720" y="5394960"/>
            <a:ext cx="3108960" cy="548640"/>
          </a:xfrm>
          <a:prstGeom prst="round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046720" y="5394960"/>
            <a:ext cx="3108960" cy="5486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</a:rPr>
              <a:t>⬇ CSVダウンロード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74320" y="6446520"/>
            <a:ext cx="54864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</a:rPr>
              <a:t>サロン顧客管理システム ご提案資料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515600" y="6446520"/>
            <a:ext cx="146304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</a:rPr>
              <a:t>9 / 20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65760" y="274320"/>
            <a:ext cx="548640" cy="548640"/>
          </a:xfrm>
          <a:prstGeom prst="ellipse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56032"/>
            <a:ext cx="10058400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7B4A5C"/>
                </a:solidFill>
                <a:latin typeface="メイリオ"/>
                <a:ea typeface="メイリオ"/>
              </a:rPr>
              <a:t>スマホ完全対応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960120"/>
            <a:ext cx="11430000" cy="18000"/>
          </a:xfrm>
          <a:prstGeom prst="rect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188720"/>
            <a:ext cx="1097280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7B4A5C"/>
                </a:solidFill>
                <a:latin typeface="メイリオ"/>
                <a:ea typeface="メイリオ"/>
              </a:rPr>
              <a:t>PCでもスマホでも、画面サイズに合わせて自動で最適化。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920240"/>
            <a:ext cx="5486400" cy="3840480"/>
          </a:xfrm>
          <a:prstGeom prst="round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" y="2194560"/>
            <a:ext cx="4937760" cy="3017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2194560"/>
            <a:ext cx="4937760" cy="274320"/>
          </a:xfrm>
          <a:prstGeom prst="rect">
            <a:avLst/>
          </a:prstGeom>
          <a:solidFill>
            <a:srgbClr val="D46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514600"/>
            <a:ext cx="123444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>
                <a:solidFill>
                  <a:srgbClr val="7B4A5C"/>
                </a:solidFill>
                <a:latin typeface="メイリオ"/>
                <a:ea typeface="メイリオ"/>
              </a:rPr>
              <a:t>日時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57400" y="2514600"/>
            <a:ext cx="123444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>
                <a:solidFill>
                  <a:srgbClr val="7B4A5C"/>
                </a:solidFill>
                <a:latin typeface="メイリオ"/>
                <a:ea typeface="メイリオ"/>
              </a:rPr>
              <a:t>顧客名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2514600"/>
            <a:ext cx="123444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>
                <a:solidFill>
                  <a:srgbClr val="7B4A5C"/>
                </a:solidFill>
                <a:latin typeface="メイリオ"/>
                <a:ea typeface="メイリオ"/>
              </a:rPr>
              <a:t>メニュー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80" y="2514600"/>
            <a:ext cx="123444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>
                <a:solidFill>
                  <a:srgbClr val="7B4A5C"/>
                </a:solidFill>
                <a:latin typeface="メイリオ"/>
                <a:ea typeface="メイリオ"/>
              </a:rPr>
              <a:t>金額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2834640"/>
            <a:ext cx="1234440" cy="3200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>
                <a:solidFill>
                  <a:srgbClr val="333333"/>
                </a:solidFill>
                <a:latin typeface="メイリオ"/>
                <a:ea typeface="メイリオ"/>
              </a:rPr>
              <a:t>4/21 10:00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2834640"/>
            <a:ext cx="1234440" cy="3200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>
                <a:solidFill>
                  <a:srgbClr val="333333"/>
                </a:solidFill>
                <a:latin typeface="メイリオ"/>
                <a:ea typeface="メイリオ"/>
              </a:rPr>
              <a:t>田中様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91840" y="2834640"/>
            <a:ext cx="1234440" cy="3200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>
                <a:solidFill>
                  <a:srgbClr val="333333"/>
                </a:solidFill>
                <a:latin typeface="メイリオ"/>
                <a:ea typeface="メイリオ"/>
              </a:rPr>
              <a:t>カット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26280" y="2834640"/>
            <a:ext cx="1234440" cy="3200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>
                <a:solidFill>
                  <a:srgbClr val="333333"/>
                </a:solidFill>
                <a:latin typeface="メイリオ"/>
                <a:ea typeface="メイリオ"/>
              </a:rPr>
              <a:t>¥5,500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3154680"/>
            <a:ext cx="1234440" cy="3200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>
                <a:solidFill>
                  <a:srgbClr val="333333"/>
                </a:solidFill>
                <a:latin typeface="メイリオ"/>
                <a:ea typeface="メイリオ"/>
              </a:rPr>
              <a:t>4/21 11:30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57400" y="3154680"/>
            <a:ext cx="1234440" cy="3200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>
                <a:solidFill>
                  <a:srgbClr val="333333"/>
                </a:solidFill>
                <a:latin typeface="メイリオ"/>
                <a:ea typeface="メイリオ"/>
              </a:rPr>
              <a:t>佐藤様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40" y="3154680"/>
            <a:ext cx="1234440" cy="3200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>
                <a:solidFill>
                  <a:srgbClr val="333333"/>
                </a:solidFill>
                <a:latin typeface="メイリオ"/>
                <a:ea typeface="メイリオ"/>
              </a:rPr>
              <a:t>カラー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80" y="3154680"/>
            <a:ext cx="1234440" cy="3200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>
                <a:solidFill>
                  <a:srgbClr val="333333"/>
                </a:solidFill>
                <a:latin typeface="メイリオ"/>
                <a:ea typeface="メイリオ"/>
              </a:rPr>
              <a:t>¥12,000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3474720"/>
            <a:ext cx="1234440" cy="3200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>
                <a:solidFill>
                  <a:srgbClr val="333333"/>
                </a:solidFill>
                <a:latin typeface="メイリオ"/>
                <a:ea typeface="メイリオ"/>
              </a:rPr>
              <a:t>4/21 13:00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57400" y="3474720"/>
            <a:ext cx="1234440" cy="3200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>
                <a:solidFill>
                  <a:srgbClr val="333333"/>
                </a:solidFill>
                <a:latin typeface="メイリオ"/>
                <a:ea typeface="メイリオ"/>
              </a:rPr>
              <a:t>鈴木様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91840" y="3474720"/>
            <a:ext cx="1234440" cy="3200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>
                <a:solidFill>
                  <a:srgbClr val="333333"/>
                </a:solidFill>
                <a:latin typeface="メイリオ"/>
                <a:ea typeface="メイリオ"/>
              </a:rPr>
              <a:t>フェイシャル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26280" y="3474720"/>
            <a:ext cx="1234440" cy="3200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>
                <a:solidFill>
                  <a:srgbClr val="333333"/>
                </a:solidFill>
                <a:latin typeface="メイリオ"/>
                <a:ea typeface="メイリオ"/>
              </a:rPr>
              <a:t>¥8,000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3794760"/>
            <a:ext cx="1234440" cy="3200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>
                <a:solidFill>
                  <a:srgbClr val="333333"/>
                </a:solidFill>
                <a:latin typeface="メイリオ"/>
                <a:ea typeface="メイリオ"/>
              </a:rPr>
              <a:t>4/21 15:00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057400" y="3794760"/>
            <a:ext cx="1234440" cy="3200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>
                <a:solidFill>
                  <a:srgbClr val="333333"/>
                </a:solidFill>
                <a:latin typeface="メイリオ"/>
                <a:ea typeface="メイリオ"/>
              </a:rPr>
              <a:t>高橋様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91840" y="3794760"/>
            <a:ext cx="1234440" cy="3200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>
                <a:solidFill>
                  <a:srgbClr val="333333"/>
                </a:solidFill>
                <a:latin typeface="メイリオ"/>
                <a:ea typeface="メイリオ"/>
              </a:rPr>
              <a:t>コース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26280" y="3794760"/>
            <a:ext cx="1234440" cy="3200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>
                <a:solidFill>
                  <a:srgbClr val="333333"/>
                </a:solidFill>
                <a:latin typeface="メイリオ"/>
                <a:ea typeface="メイリオ"/>
              </a:rPr>
              <a:t>-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651760" y="5760720"/>
            <a:ext cx="1280160" cy="13716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103120" y="5897880"/>
            <a:ext cx="2377440" cy="9144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" y="6035040"/>
            <a:ext cx="54864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7B4A5C"/>
                </a:solidFill>
                <a:latin typeface="メイリオ"/>
                <a:ea typeface="メイリオ"/>
              </a:rPr>
              <a:t>PC：広々と一覧表示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138160" y="1828800"/>
            <a:ext cx="2560320" cy="4206240"/>
          </a:xfrm>
          <a:prstGeom prst="round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229600" y="2057400"/>
            <a:ext cx="2377440" cy="37490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229600" y="2057400"/>
            <a:ext cx="2377440" cy="274320"/>
          </a:xfrm>
          <a:prstGeom prst="rect">
            <a:avLst/>
          </a:prstGeom>
          <a:solidFill>
            <a:srgbClr val="D46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29600" y="2057400"/>
            <a:ext cx="2377440" cy="274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latin typeface="メイリオ"/>
                <a:ea typeface="メイリオ"/>
              </a:rPr>
              <a:t>予約一覧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321040" y="2423160"/>
            <a:ext cx="2194560" cy="731520"/>
          </a:xfrm>
          <a:prstGeom prst="roundRect">
            <a:avLst/>
          </a:prstGeom>
          <a:solidFill>
            <a:srgbClr val="FFF5F7"/>
          </a:solidFill>
          <a:ln w="9525">
            <a:solidFill>
              <a:srgbClr val="D46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412480" y="2468880"/>
            <a:ext cx="210312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7B4A5C"/>
                </a:solidFill>
                <a:latin typeface="メイリオ"/>
                <a:ea typeface="メイリオ"/>
              </a:rPr>
              <a:t>4/21 10:00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12480" y="2697480"/>
            <a:ext cx="2103120" cy="2286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333333"/>
                </a:solidFill>
                <a:latin typeface="メイリオ"/>
                <a:ea typeface="メイリオ"/>
              </a:rPr>
              <a:t>田中様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12480" y="2898648"/>
            <a:ext cx="2103120" cy="2286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</a:rPr>
              <a:t>カット ¥5,500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321040" y="3227832"/>
            <a:ext cx="2194560" cy="731520"/>
          </a:xfrm>
          <a:prstGeom prst="roundRect">
            <a:avLst/>
          </a:prstGeom>
          <a:solidFill>
            <a:srgbClr val="FFF5F7"/>
          </a:solidFill>
          <a:ln w="9525">
            <a:solidFill>
              <a:srgbClr val="D46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412480" y="3273552"/>
            <a:ext cx="210312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7B4A5C"/>
                </a:solidFill>
                <a:latin typeface="メイリオ"/>
                <a:ea typeface="メイリオ"/>
              </a:rPr>
              <a:t>4/21 12:00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412480" y="3502152"/>
            <a:ext cx="2103120" cy="2286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333333"/>
                </a:solidFill>
                <a:latin typeface="メイリオ"/>
                <a:ea typeface="メイリオ"/>
              </a:rPr>
              <a:t>佐藤様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12480" y="3703320"/>
            <a:ext cx="2103120" cy="2286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</a:rPr>
              <a:t>カラー ¥12,000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321040" y="4032504"/>
            <a:ext cx="2194560" cy="731520"/>
          </a:xfrm>
          <a:prstGeom prst="roundRect">
            <a:avLst/>
          </a:prstGeom>
          <a:solidFill>
            <a:srgbClr val="FFF5F7"/>
          </a:solidFill>
          <a:ln w="9525">
            <a:solidFill>
              <a:srgbClr val="D46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412480" y="4078224"/>
            <a:ext cx="210312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7B4A5C"/>
                </a:solidFill>
                <a:latin typeface="メイリオ"/>
                <a:ea typeface="メイリオ"/>
              </a:rPr>
              <a:t>4/21 14:00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12480" y="4306824"/>
            <a:ext cx="2103120" cy="2286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333333"/>
                </a:solidFill>
                <a:latin typeface="メイリオ"/>
                <a:ea typeface="メイリオ"/>
              </a:rPr>
              <a:t>鈴木様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412480" y="4507992"/>
            <a:ext cx="2103120" cy="2286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</a:rPr>
              <a:t>フェイシャル ¥8,000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321040" y="4837176"/>
            <a:ext cx="2194560" cy="731520"/>
          </a:xfrm>
          <a:prstGeom prst="roundRect">
            <a:avLst/>
          </a:prstGeom>
          <a:solidFill>
            <a:srgbClr val="FFF5F7"/>
          </a:solidFill>
          <a:ln w="9525">
            <a:solidFill>
              <a:srgbClr val="D46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412480" y="4882896"/>
            <a:ext cx="210312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7B4A5C"/>
                </a:solidFill>
                <a:latin typeface="メイリオ"/>
                <a:ea typeface="メイリオ"/>
              </a:rPr>
              <a:t>4/21 16:00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412480" y="5111496"/>
            <a:ext cx="2103120" cy="2286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333333"/>
                </a:solidFill>
                <a:latin typeface="メイリオ"/>
                <a:ea typeface="メイリオ"/>
              </a:rPr>
              <a:t>高橋様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412480" y="5312664"/>
            <a:ext cx="2103120" cy="2286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</a:rPr>
              <a:t>コース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138160" y="6172200"/>
            <a:ext cx="256032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7B4A5C"/>
                </a:solidFill>
                <a:latin typeface="メイリオ"/>
                <a:ea typeface="メイリオ"/>
              </a:rPr>
              <a:t>スマホ：カード型に自動変換</a:t>
            </a:r>
          </a:p>
        </p:txBody>
      </p:sp>
      <p:sp>
        <p:nvSpPr>
          <p:cNvPr id="56" name="Right Arrow 55"/>
          <p:cNvSpPr/>
          <p:nvPr/>
        </p:nvSpPr>
        <p:spPr>
          <a:xfrm>
            <a:off x="6400800" y="3474720"/>
            <a:ext cx="1554480" cy="731520"/>
          </a:xfrm>
          <a:prstGeom prst="rightArrow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400800" y="3474720"/>
            <a:ext cx="1554480" cy="7315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</a:rPr>
              <a:t>自動</a:t>
            </a:r>
          </a:p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</a:rPr>
              <a:t>切替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74320" y="6446520"/>
            <a:ext cx="54864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</a:rPr>
              <a:t>サロン顧客管理システム ご提案資料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515600" y="6446520"/>
            <a:ext cx="146304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</a:rPr>
              <a:t>10 / 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65760" y="274320"/>
            <a:ext cx="548640" cy="548640"/>
          </a:xfrm>
          <a:prstGeom prst="ellipse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56032"/>
            <a:ext cx="10058400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7B4A5C"/>
                </a:solidFill>
                <a:latin typeface="メイリオ"/>
                <a:ea typeface="メイリオ"/>
              </a:rPr>
              <a:t>自動リマインド &amp; 自動バックアップ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960120"/>
            <a:ext cx="11430000" cy="18000"/>
          </a:xfrm>
          <a:prstGeom prst="rect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188720"/>
            <a:ext cx="1097280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7B4A5C"/>
                </a:solidFill>
                <a:latin typeface="メイリオ"/>
                <a:ea typeface="メイリオ"/>
              </a:rPr>
              <a:t>「うっかり」と「もしもの時」から、サロンを守る仕組み。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828800"/>
            <a:ext cx="5577840" cy="4114800"/>
          </a:xfrm>
          <a:prstGeom prst="roundRect">
            <a:avLst/>
          </a:prstGeom>
          <a:solidFill>
            <a:srgbClr val="FFF5F7"/>
          </a:solidFill>
          <a:ln w="25400">
            <a:solidFill>
              <a:srgbClr val="D46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965960"/>
            <a:ext cx="530352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>
                <a:solidFill>
                  <a:srgbClr val="D4688A"/>
                </a:solidFill>
                <a:latin typeface="メイリオ"/>
                <a:ea typeface="メイリオ"/>
              </a:rPr>
              <a:t>⏰ 前日リマインド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468880"/>
            <a:ext cx="530352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7B4A5C"/>
                </a:solidFill>
                <a:latin typeface="メイリオ"/>
                <a:ea typeface="メイリオ"/>
              </a:rPr>
              <a:t>お客様のLINEに自動でメッセージ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926080"/>
            <a:ext cx="4754880" cy="16459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017520"/>
            <a:ext cx="4572000" cy="1463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〇〇サロンです🌸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明日 4/22（金）14:00 から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カット＋カラーのご予約を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お待ちしております。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変更・キャンセルはメニューから。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709160"/>
            <a:ext cx="5212080" cy="1051560"/>
          </a:xfrm>
          <a:prstGeom prst="roundRect">
            <a:avLst/>
          </a:prstGeom>
          <a:solidFill>
            <a:srgbClr val="5CB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754880"/>
            <a:ext cx="521208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</a:rPr>
              <a:t>効果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074920"/>
            <a:ext cx="5212080" cy="5486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</a:rPr>
              <a:t>無断キャンセル激減 → 機会損失を防止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1828800"/>
            <a:ext cx="5486400" cy="4114800"/>
          </a:xfrm>
          <a:prstGeom prst="roundRect">
            <a:avLst/>
          </a:prstGeom>
          <a:solidFill>
            <a:srgbClr val="FFF5F7"/>
          </a:solidFill>
          <a:ln w="25400">
            <a:solidFill>
              <a:srgbClr val="D4A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1965960"/>
            <a:ext cx="521208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>
                <a:solidFill>
                  <a:srgbClr val="D4A574"/>
                </a:solidFill>
                <a:latin typeface="メイリオ"/>
                <a:ea typeface="メイリオ"/>
              </a:rPr>
              <a:t>💾 週次バックアップ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2468880"/>
            <a:ext cx="521208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7B4A5C"/>
                </a:solidFill>
                <a:latin typeface="メイリオ"/>
                <a:ea typeface="メイリオ"/>
              </a:rPr>
              <a:t>毎週日曜5時、自動でデータを保管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37960" y="2926080"/>
            <a:ext cx="640080" cy="822960"/>
          </a:xfrm>
          <a:prstGeom prst="roundRect">
            <a:avLst/>
          </a:prstGeom>
          <a:solidFill>
            <a:srgbClr val="D46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37960" y="2971800"/>
            <a:ext cx="64008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latin typeface="メイリオ"/>
                <a:ea typeface="メイリオ"/>
              </a:rPr>
              <a:t>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60" y="3246120"/>
            <a:ext cx="64008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>
                <a:solidFill>
                  <a:srgbClr val="FFFFFF"/>
                </a:solidFill>
                <a:latin typeface="メイリオ"/>
                <a:ea typeface="メイリオ"/>
              </a:rPr>
              <a:t>5:00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269480" y="2926080"/>
            <a:ext cx="640080" cy="822960"/>
          </a:xfrm>
          <a:prstGeom prst="round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69480" y="2971800"/>
            <a:ext cx="64008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888888"/>
                </a:solidFill>
                <a:latin typeface="メイリオ"/>
                <a:ea typeface="メイリオ"/>
              </a:rPr>
              <a:t>月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01000" y="2926080"/>
            <a:ext cx="640080" cy="822960"/>
          </a:xfrm>
          <a:prstGeom prst="round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01000" y="2971800"/>
            <a:ext cx="64008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888888"/>
                </a:solidFill>
                <a:latin typeface="メイリオ"/>
                <a:ea typeface="メイリオ"/>
              </a:rPr>
              <a:t>火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732520" y="2926080"/>
            <a:ext cx="640080" cy="822960"/>
          </a:xfrm>
          <a:prstGeom prst="round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32520" y="2971800"/>
            <a:ext cx="64008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888888"/>
                </a:solidFill>
                <a:latin typeface="メイリオ"/>
                <a:ea typeface="メイリオ"/>
              </a:rPr>
              <a:t>水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464040" y="2926080"/>
            <a:ext cx="640080" cy="822960"/>
          </a:xfrm>
          <a:prstGeom prst="round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464040" y="2971800"/>
            <a:ext cx="64008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888888"/>
                </a:solidFill>
                <a:latin typeface="メイリオ"/>
                <a:ea typeface="メイリオ"/>
              </a:rPr>
              <a:t>木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195560" y="2926080"/>
            <a:ext cx="640080" cy="822960"/>
          </a:xfrm>
          <a:prstGeom prst="round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195560" y="2971800"/>
            <a:ext cx="64008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888888"/>
                </a:solidFill>
                <a:latin typeface="メイリオ"/>
                <a:ea typeface="メイリオ"/>
              </a:rPr>
              <a:t>金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927080" y="2926080"/>
            <a:ext cx="640080" cy="822960"/>
          </a:xfrm>
          <a:prstGeom prst="round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927080" y="2971800"/>
            <a:ext cx="64008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888888"/>
                </a:solidFill>
                <a:latin typeface="メイリオ"/>
                <a:ea typeface="メイリオ"/>
              </a:rPr>
              <a:t>土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92240" y="3886200"/>
            <a:ext cx="530352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→ ダッシュボードに「最新バックアップ✓」表示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675120" y="4297680"/>
            <a:ext cx="4846320" cy="411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5CB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75120" y="4297680"/>
            <a:ext cx="484632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5CB85C"/>
                </a:solidFill>
                <a:latin typeface="メイリオ"/>
                <a:ea typeface="メイリオ"/>
              </a:rPr>
              <a:t>✓ 2026/04/19 05:00 バックアップ完了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492240" y="4846320"/>
            <a:ext cx="5212080" cy="914400"/>
          </a:xfrm>
          <a:prstGeom prst="round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92240" y="4846320"/>
            <a:ext cx="5212080" cy="9144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</a:rPr>
              <a:t>💡 データ消失の心配なし</a:t>
            </a:r>
          </a:p>
          <a:p>
            <a:pPr algn="ctr">
              <a:lnSpc>
                <a:spcPct val="130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</a:rPr>
              <a:t>いつでも過去30日分から復元可能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74320" y="6446520"/>
            <a:ext cx="54864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</a:rPr>
              <a:t>サロン顧客管理システム ご提案資料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15600" y="6446520"/>
            <a:ext cx="146304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</a:rPr>
              <a:t>11 / 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65760" y="274320"/>
            <a:ext cx="548640" cy="548640"/>
          </a:xfrm>
          <a:prstGeom prst="ellipse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56032"/>
            <a:ext cx="10058400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7B4A5C"/>
                </a:solidFill>
                <a:latin typeface="メイリオ"/>
                <a:ea typeface="メイリオ"/>
              </a:rPr>
              <a:t>セキュリティ対策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960120"/>
            <a:ext cx="11430000" cy="18000"/>
          </a:xfrm>
          <a:prstGeom prst="rect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188720"/>
            <a:ext cx="1097280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7B4A5C"/>
                </a:solidFill>
                <a:latin typeface="メイリオ"/>
                <a:ea typeface="メイリオ"/>
              </a:rPr>
              <a:t>大切なお客様情報を、しっかり守る4つの仕組み。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828800"/>
            <a:ext cx="566928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46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40080" y="2103120"/>
            <a:ext cx="1280160" cy="1280160"/>
          </a:xfrm>
          <a:prstGeom prst="ellipse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103120"/>
            <a:ext cx="1280160" cy="12801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4000" b="0">
                <a:solidFill>
                  <a:srgbClr val="333333"/>
                </a:solidFill>
                <a:latin typeface="メイリオ"/>
                <a:ea typeface="メイリオ"/>
              </a:rPr>
              <a:t>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20" y="2103120"/>
            <a:ext cx="384048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7B4A5C"/>
                </a:solidFill>
                <a:latin typeface="メイリオ"/>
                <a:ea typeface="メイリオ"/>
              </a:rPr>
              <a:t>パスワードはハッシュ化保存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03120" y="2606040"/>
            <a:ext cx="3931920" cy="10972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万一データが見られても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パスワードは復元不可能な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形で保管されます。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828800"/>
            <a:ext cx="566928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46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92240" y="2103120"/>
            <a:ext cx="1280160" cy="1280160"/>
          </a:xfrm>
          <a:prstGeom prst="ellipse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2103120"/>
            <a:ext cx="1280160" cy="12801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4000" b="0">
                <a:solidFill>
                  <a:srgbClr val="333333"/>
                </a:solidFill>
                <a:latin typeface="メイリオ"/>
                <a:ea typeface="メイリオ"/>
              </a:rPr>
              <a:t>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80" y="2103120"/>
            <a:ext cx="384048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7B4A5C"/>
                </a:solidFill>
                <a:latin typeface="メイリオ"/>
                <a:ea typeface="メイリオ"/>
              </a:rPr>
              <a:t>通信は暗号化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80" y="2606040"/>
            <a:ext cx="3931920" cy="10972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LINE・管理画面とサーバー間の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すべての通信を暗号化。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盗聴される心配はありません。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4023360"/>
            <a:ext cx="566928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46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0080" y="4297680"/>
            <a:ext cx="1280160" cy="1280160"/>
          </a:xfrm>
          <a:prstGeom prst="ellipse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297680"/>
            <a:ext cx="1280160" cy="12801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4000" b="0">
                <a:solidFill>
                  <a:srgbClr val="333333"/>
                </a:solidFill>
                <a:latin typeface="メイリオ"/>
                <a:ea typeface="メイリオ"/>
              </a:rPr>
              <a:t>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03120" y="4297680"/>
            <a:ext cx="384048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7B4A5C"/>
                </a:solidFill>
                <a:latin typeface="メイリオ"/>
                <a:ea typeface="メイリオ"/>
              </a:rPr>
              <a:t>共有PCでも安心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03120" y="4800600"/>
            <a:ext cx="3931920" cy="10972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ログイン情報は保存せず、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ブラウザを閉じれば自動ログアウト。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店舗の共用PCでも使えます。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9360" y="4023360"/>
            <a:ext cx="566928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46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492240" y="4297680"/>
            <a:ext cx="1280160" cy="1280160"/>
          </a:xfrm>
          <a:prstGeom prst="ellipse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0" y="4297680"/>
            <a:ext cx="1280160" cy="12801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4000" b="0">
                <a:solidFill>
                  <a:srgbClr val="333333"/>
                </a:solidFill>
                <a:latin typeface="メイリオ"/>
                <a:ea typeface="メイリオ"/>
              </a:rPr>
              <a:t>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55280" y="4297680"/>
            <a:ext cx="384048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7B4A5C"/>
                </a:solidFill>
                <a:latin typeface="メイリオ"/>
                <a:ea typeface="メイリオ"/>
              </a:rPr>
              <a:t>全操作ログ記録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55280" y="4800600"/>
            <a:ext cx="3931920" cy="10972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「誰がいつ何をしたか」を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自動で記録。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トラブル時の追跡が可能です。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4320" y="6446520"/>
            <a:ext cx="54864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</a:rPr>
              <a:t>サロン顧客管理システム ご提案資料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0" y="6446520"/>
            <a:ext cx="146304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</a:rPr>
              <a:t>12 / 20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65760" y="274320"/>
            <a:ext cx="548640" cy="548640"/>
          </a:xfrm>
          <a:prstGeom prst="ellipse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56032"/>
            <a:ext cx="10058400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7B4A5C"/>
                </a:solidFill>
                <a:latin typeface="メイリオ"/>
                <a:ea typeface="メイリオ"/>
              </a:rPr>
              <a:t>他システムとの違い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960120"/>
            <a:ext cx="11430000" cy="18000"/>
          </a:xfrm>
          <a:prstGeom prst="rect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188720"/>
            <a:ext cx="1097280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7B4A5C"/>
                </a:solidFill>
                <a:latin typeface="メイリオ"/>
                <a:ea typeface="メイリオ"/>
              </a:rPr>
              <a:t>コスト・柔軟性・データ所有権。すべてサロン側のメリットを追求。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914400" y="1828800"/>
          <a:ext cx="1033272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3657600"/>
                <a:gridCol w="3657600"/>
              </a:tblGrid>
              <a:tr h="685800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</a:rPr>
                        <a:t>項目</a:t>
                      </a:r>
                    </a:p>
                  </a:txBody>
                  <a:tcPr anchor="ctr">
                    <a:solidFill>
                      <a:srgbClr val="D4688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</a:rPr>
                        <a:t>当システム</a:t>
                      </a:r>
                    </a:p>
                  </a:txBody>
                  <a:tcPr anchor="ctr">
                    <a:solidFill>
                      <a:srgbClr val="D4688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</a:rPr>
                        <a:t>大手予約サイト</a:t>
                      </a:r>
                    </a:p>
                  </a:txBody>
                  <a:tcPr anchor="ctr">
                    <a:solidFill>
                      <a:srgbClr val="D4688A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7B4A5C"/>
                          </a:solidFill>
                          <a:latin typeface="メイリオ"/>
                          <a:ea typeface="メイリオ"/>
                        </a:rPr>
                        <a:t>月額固定費</a:t>
                      </a:r>
                    </a:p>
                  </a:txBody>
                  <a:tcPr anchor="ctr">
                    <a:solidFill>
                      <a:srgbClr val="FFE4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D4688A"/>
                          </a:solidFill>
                          <a:latin typeface="メイリオ"/>
                          <a:ea typeface="メイリオ"/>
                        </a:rPr>
                        <a:t>要相談（変動なし）</a:t>
                      </a:r>
                    </a:p>
                  </a:txBody>
                  <a:tcPr anchor="ctr">
                    <a:solidFill>
                      <a:srgbClr val="FF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>
                          <a:solidFill>
                            <a:srgbClr val="888888"/>
                          </a:solidFill>
                          <a:latin typeface="メイリオ"/>
                          <a:ea typeface="メイリオ"/>
                        </a:rPr>
                        <a:t>高額 ＋ 手数料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7B4A5C"/>
                          </a:solidFill>
                          <a:latin typeface="メイリオ"/>
                          <a:ea typeface="メイリオ"/>
                        </a:rPr>
                        <a:t>LINE連携</a:t>
                      </a:r>
                    </a:p>
                  </a:txBody>
                  <a:tcPr anchor="ctr">
                    <a:solidFill>
                      <a:srgbClr val="FFE4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D4688A"/>
                          </a:solidFill>
                          <a:latin typeface="メイリオ"/>
                          <a:ea typeface="メイリオ"/>
                        </a:rPr>
                        <a:t>標準搭載</a:t>
                      </a:r>
                    </a:p>
                  </a:txBody>
                  <a:tcPr anchor="ctr">
                    <a:solidFill>
                      <a:srgbClr val="FF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>
                          <a:solidFill>
                            <a:srgbClr val="888888"/>
                          </a:solidFill>
                          <a:latin typeface="メイリオ"/>
                          <a:ea typeface="メイリオ"/>
                        </a:rPr>
                        <a:t>オプション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7B4A5C"/>
                          </a:solidFill>
                          <a:latin typeface="メイリオ"/>
                          <a:ea typeface="メイリオ"/>
                        </a:rPr>
                        <a:t>カスタマイズ
（店舗名・文言・料金）</a:t>
                      </a:r>
                    </a:p>
                  </a:txBody>
                  <a:tcPr anchor="ctr">
                    <a:solidFill>
                      <a:srgbClr val="FFE4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D4688A"/>
                          </a:solidFill>
                          <a:latin typeface="メイリオ"/>
                          <a:ea typeface="メイリオ"/>
                        </a:rPr>
                        <a:t>自由に変更可</a:t>
                      </a:r>
                    </a:p>
                  </a:txBody>
                  <a:tcPr anchor="ctr">
                    <a:solidFill>
                      <a:srgbClr val="FF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>
                          <a:solidFill>
                            <a:srgbClr val="888888"/>
                          </a:solidFill>
                          <a:latin typeface="メイリオ"/>
                          <a:ea typeface="メイリオ"/>
                        </a:rPr>
                        <a:t>制限あり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7B4A5C"/>
                          </a:solidFill>
                          <a:latin typeface="メイリオ"/>
                          <a:ea typeface="メイリオ"/>
                        </a:rPr>
                        <a:t>データ所有</a:t>
                      </a:r>
                    </a:p>
                  </a:txBody>
                  <a:tcPr anchor="ctr">
                    <a:solidFill>
                      <a:srgbClr val="FFE4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D4688A"/>
                          </a:solidFill>
                          <a:latin typeface="メイリオ"/>
                          <a:ea typeface="メイリオ"/>
                        </a:rPr>
                        <a:t>サロン側</a:t>
                      </a:r>
                    </a:p>
                  </a:txBody>
                  <a:tcPr anchor="ctr">
                    <a:solidFill>
                      <a:srgbClr val="FF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>
                          <a:solidFill>
                            <a:srgbClr val="888888"/>
                          </a:solidFill>
                          <a:latin typeface="メイリオ"/>
                          <a:ea typeface="メイリオ"/>
                        </a:rPr>
                        <a:t>事業者側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7B4A5C"/>
                          </a:solidFill>
                          <a:latin typeface="メイリオ"/>
                          <a:ea typeface="メイリオ"/>
                        </a:rPr>
                        <a:t>予約手数料</a:t>
                      </a:r>
                    </a:p>
                  </a:txBody>
                  <a:tcPr anchor="ctr">
                    <a:solidFill>
                      <a:srgbClr val="FFE4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D4688A"/>
                          </a:solidFill>
                          <a:latin typeface="メイリオ"/>
                          <a:ea typeface="メイリオ"/>
                        </a:rPr>
                        <a:t>なし</a:t>
                      </a:r>
                    </a:p>
                  </a:txBody>
                  <a:tcPr anchor="ctr">
                    <a:solidFill>
                      <a:srgbClr val="FF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>
                          <a:solidFill>
                            <a:srgbClr val="888888"/>
                          </a:solidFill>
                          <a:latin typeface="メイリオ"/>
                          <a:ea typeface="メイリオ"/>
                        </a:rPr>
                        <a:t>1件ごとに課金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48640" y="6080760"/>
            <a:ext cx="109728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888888"/>
                </a:solidFill>
                <a:latin typeface="メイリオ"/>
                <a:ea typeface="メイリオ"/>
              </a:rPr>
              <a:t>※ 上記は一般的な比較です。具体的な金額・条件は個別にご相談ください。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6446520"/>
            <a:ext cx="54864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</a:rPr>
              <a:t>サロン顧客管理システム ご提案資料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446520"/>
            <a:ext cx="146304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</a:rPr>
              <a:t>13 / 20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65760" y="274320"/>
            <a:ext cx="548640" cy="548640"/>
          </a:xfrm>
          <a:prstGeom prst="ellipse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56032"/>
            <a:ext cx="10058400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7B4A5C"/>
                </a:solidFill>
                <a:latin typeface="メイリオ"/>
                <a:ea typeface="メイリオ"/>
              </a:rPr>
              <a:t>導入の流れ（4週間）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960120"/>
            <a:ext cx="11430000" cy="18000"/>
          </a:xfrm>
          <a:prstGeom prst="rect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188720"/>
            <a:ext cx="1097280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7B4A5C"/>
                </a:solidFill>
                <a:latin typeface="メイリオ"/>
                <a:ea typeface="メイリオ"/>
              </a:rPr>
              <a:t>お申込みから運用開始まで、およそ4週間で完了します。</a:t>
            </a:r>
          </a:p>
        </p:txBody>
      </p:sp>
      <p:sp>
        <p:nvSpPr>
          <p:cNvPr id="9" name="Oval 8"/>
          <p:cNvSpPr/>
          <p:nvPr/>
        </p:nvSpPr>
        <p:spPr>
          <a:xfrm>
            <a:off x="1417320" y="1828800"/>
            <a:ext cx="822960" cy="822960"/>
          </a:xfrm>
          <a:prstGeom prst="ellipse">
            <a:avLst/>
          </a:prstGeom>
          <a:solidFill>
            <a:srgbClr val="D4688A"/>
          </a:solidFill>
          <a:ln w="31750">
            <a:solidFill>
              <a:srgbClr val="D4A5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17320" y="1828800"/>
            <a:ext cx="822960" cy="8229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800" b="1">
                <a:solidFill>
                  <a:srgbClr val="FFFFFF"/>
                </a:solidFill>
                <a:latin typeface="Arial"/>
                <a:ea typeface="メイリオ"/>
              </a:rPr>
              <a:t>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2834640"/>
            <a:ext cx="2743200" cy="3291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46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2926080"/>
            <a:ext cx="27432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D4A574"/>
                </a:solidFill>
                <a:latin typeface="Arial"/>
                <a:ea typeface="メイリオ"/>
              </a:rPr>
              <a:t>Week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3337560"/>
            <a:ext cx="2743200" cy="5486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7B4A5C"/>
                </a:solidFill>
                <a:latin typeface="メイリオ"/>
                <a:ea typeface="メイリオ"/>
              </a:rPr>
              <a:t>ヒアリング &amp; 環境準備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023360"/>
            <a:ext cx="2468880" cy="20116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サロン様の業務フローをお伺いし、</a:t>
            </a:r>
          </a:p>
          <a:p>
            <a:pPr algn="ctr">
              <a:lnSpc>
                <a:spcPct val="13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Googleアカウント・LINE公式アカウント</a:t>
            </a:r>
          </a:p>
          <a:p>
            <a:pPr algn="ctr">
              <a:lnSpc>
                <a:spcPct val="13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の準備をサポート。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3154680" y="4114800"/>
            <a:ext cx="182880" cy="365760"/>
          </a:xfrm>
          <a:prstGeom prst="rightArrow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297680" y="1828800"/>
            <a:ext cx="822960" cy="822960"/>
          </a:xfrm>
          <a:prstGeom prst="ellipse">
            <a:avLst/>
          </a:prstGeom>
          <a:solidFill>
            <a:srgbClr val="D4688A"/>
          </a:solidFill>
          <a:ln w="31750">
            <a:solidFill>
              <a:srgbClr val="D4A5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97680" y="1828800"/>
            <a:ext cx="822960" cy="8229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800" b="1">
                <a:solidFill>
                  <a:srgbClr val="FFFFFF"/>
                </a:solidFill>
                <a:latin typeface="Arial"/>
                <a:ea typeface="メイリオ"/>
              </a:rPr>
              <a:t>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91840" y="2834640"/>
            <a:ext cx="2743200" cy="3291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46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91840" y="2926080"/>
            <a:ext cx="27432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D4A574"/>
                </a:solidFill>
                <a:latin typeface="Arial"/>
                <a:ea typeface="メイリオ"/>
              </a:rPr>
              <a:t>Week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91840" y="3337560"/>
            <a:ext cx="2743200" cy="5486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7B4A5C"/>
                </a:solidFill>
                <a:latin typeface="メイリオ"/>
                <a:ea typeface="メイリオ"/>
              </a:rPr>
              <a:t>LINE公式アカウント連携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29000" y="4023360"/>
            <a:ext cx="2468880" cy="20116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予約メニュー・リッチメニューの設定、</a:t>
            </a:r>
          </a:p>
          <a:p>
            <a:pPr algn="ctr">
              <a:lnSpc>
                <a:spcPct val="13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サロン専用の挨拶メッセージや</a:t>
            </a:r>
          </a:p>
          <a:p>
            <a:pPr algn="ctr">
              <a:lnSpc>
                <a:spcPct val="13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キャンセルポリシーを登録。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6035040" y="4114800"/>
            <a:ext cx="182880" cy="365760"/>
          </a:xfrm>
          <a:prstGeom prst="rightArrow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178040" y="1828800"/>
            <a:ext cx="822960" cy="822960"/>
          </a:xfrm>
          <a:prstGeom prst="ellipse">
            <a:avLst/>
          </a:prstGeom>
          <a:solidFill>
            <a:srgbClr val="D4688A"/>
          </a:solidFill>
          <a:ln w="31750">
            <a:solidFill>
              <a:srgbClr val="D4A5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78040" y="1828800"/>
            <a:ext cx="822960" cy="8229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800" b="1">
                <a:solidFill>
                  <a:srgbClr val="FFFFFF"/>
                </a:solidFill>
                <a:latin typeface="Arial"/>
                <a:ea typeface="メイリオ"/>
              </a:rPr>
              <a:t>3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2200" y="2834640"/>
            <a:ext cx="2743200" cy="3291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46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72200" y="2926080"/>
            <a:ext cx="27432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D4A574"/>
                </a:solidFill>
                <a:latin typeface="Arial"/>
                <a:ea typeface="メイリオ"/>
              </a:rPr>
              <a:t>Week 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72200" y="3337560"/>
            <a:ext cx="2743200" cy="5486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7B4A5C"/>
                </a:solidFill>
                <a:latin typeface="メイリオ"/>
                <a:ea typeface="メイリオ"/>
              </a:rPr>
              <a:t>初期データ移行・動作確認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4023360"/>
            <a:ext cx="2468880" cy="20116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既存顧客データの取り込み、</a:t>
            </a:r>
          </a:p>
          <a:p>
            <a:pPr algn="ctr">
              <a:lnSpc>
                <a:spcPct val="13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メニュー・コース料金の登録、</a:t>
            </a:r>
          </a:p>
          <a:p>
            <a:pPr algn="ctr">
              <a:lnSpc>
                <a:spcPct val="13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テスト予約での動作確認。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8915400" y="4114800"/>
            <a:ext cx="182880" cy="365760"/>
          </a:xfrm>
          <a:prstGeom prst="rightArrow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0058399" y="1828800"/>
            <a:ext cx="822960" cy="822960"/>
          </a:xfrm>
          <a:prstGeom prst="ellipse">
            <a:avLst/>
          </a:prstGeom>
          <a:solidFill>
            <a:srgbClr val="D4688A"/>
          </a:solidFill>
          <a:ln w="31750">
            <a:solidFill>
              <a:srgbClr val="D4A5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58399" y="1828800"/>
            <a:ext cx="822960" cy="8229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800" b="1">
                <a:solidFill>
                  <a:srgbClr val="FFFFFF"/>
                </a:solidFill>
                <a:latin typeface="Arial"/>
                <a:ea typeface="メイリオ"/>
              </a:rPr>
              <a:t>4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052559" y="2834640"/>
            <a:ext cx="2743200" cy="3291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46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052559" y="2926080"/>
            <a:ext cx="27432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D4A574"/>
                </a:solidFill>
                <a:latin typeface="Arial"/>
                <a:ea typeface="メイリオ"/>
              </a:rPr>
              <a:t>Week 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52559" y="3337560"/>
            <a:ext cx="2743200" cy="5486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7B4A5C"/>
                </a:solidFill>
                <a:latin typeface="メイリオ"/>
                <a:ea typeface="メイリオ"/>
              </a:rPr>
              <a:t>運用開始 &amp; 操作研修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89719" y="4023360"/>
            <a:ext cx="2468880" cy="20116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オンライン研修（管理画面・</a:t>
            </a:r>
          </a:p>
          <a:p>
            <a:pPr algn="ctr">
              <a:lnSpc>
                <a:spcPct val="13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よくある操作）を実施。</a:t>
            </a:r>
          </a:p>
          <a:p>
            <a:pPr algn="ctr">
              <a:lnSpc>
                <a:spcPct val="13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本格運用スタート後もサポート継続。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6080760"/>
            <a:ext cx="109728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888888"/>
                </a:solidFill>
                <a:latin typeface="メイリオ"/>
                <a:ea typeface="メイリオ"/>
              </a:rPr>
              <a:t>※ サロン様のご都合やデータ量により、期間は前後する場合があります。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74320" y="6446520"/>
            <a:ext cx="54864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</a:rPr>
              <a:t>サロン顧客管理システム ご提案資料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15600" y="6446520"/>
            <a:ext cx="146304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</a:rPr>
              <a:t>14 / 20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65760" y="274320"/>
            <a:ext cx="548640" cy="548640"/>
          </a:xfrm>
          <a:prstGeom prst="ellipse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56032"/>
            <a:ext cx="10058400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7B4A5C"/>
                </a:solidFill>
                <a:latin typeface="メイリオ"/>
                <a:ea typeface="メイリオ"/>
              </a:rPr>
              <a:t>料金プラン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960120"/>
            <a:ext cx="11430000" cy="18000"/>
          </a:xfrm>
          <a:prstGeom prst="rect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188720"/>
            <a:ext cx="1097280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7B4A5C"/>
                </a:solidFill>
                <a:latin typeface="メイリオ"/>
                <a:ea typeface="メイリオ"/>
              </a:rPr>
              <a:t>サロン様の規模・ご要望に合わせて、個別にお見積もりいたします。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828800"/>
            <a:ext cx="3657600" cy="41148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46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103120"/>
            <a:ext cx="3657600" cy="7315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4400" b="0">
                <a:solidFill>
                  <a:srgbClr val="333333"/>
                </a:solidFill>
                <a:latin typeface="メイリオ"/>
                <a:ea typeface="メイリオ"/>
              </a:rPr>
              <a:t>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017520"/>
            <a:ext cx="365760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>
                <a:solidFill>
                  <a:srgbClr val="7B4A5C"/>
                </a:solidFill>
                <a:latin typeface="メイリオ"/>
                <a:ea typeface="メイリオ"/>
              </a:rPr>
              <a:t>初期費用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3520440"/>
            <a:ext cx="2743200" cy="900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3657600"/>
            <a:ext cx="3657600" cy="7315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200" b="1">
                <a:solidFill>
                  <a:srgbClr val="D4688A"/>
                </a:solidFill>
                <a:latin typeface="メイリオ"/>
                <a:ea typeface="メイリオ"/>
              </a:rPr>
              <a:t>要相談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480560"/>
            <a:ext cx="3200400" cy="12801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• 環境構築・初期設定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• LINE公式アカウント連携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• 既存データ移行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• オンライン研修1回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89120" y="1828800"/>
            <a:ext cx="3657600" cy="4114800"/>
          </a:xfrm>
          <a:prstGeom prst="roundRect">
            <a:avLst/>
          </a:prstGeom>
          <a:solidFill>
            <a:srgbClr val="D4688A"/>
          </a:solidFill>
          <a:ln w="25400">
            <a:solidFill>
              <a:srgbClr val="D46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89120" y="2103120"/>
            <a:ext cx="3657600" cy="7315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4400" b="0">
                <a:solidFill>
                  <a:srgbClr val="333333"/>
                </a:solidFill>
                <a:latin typeface="メイリオ"/>
                <a:ea typeface="メイリオ"/>
              </a:rPr>
              <a:t>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3017520"/>
            <a:ext cx="365760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>
                <a:solidFill>
                  <a:srgbClr val="FFFFFF"/>
                </a:solidFill>
                <a:latin typeface="メイリオ"/>
                <a:ea typeface="メイリオ"/>
              </a:rPr>
              <a:t>月額保守費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46320" y="3520440"/>
            <a:ext cx="2743200" cy="9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89120" y="3657600"/>
            <a:ext cx="3657600" cy="7315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200" b="1">
                <a:solidFill>
                  <a:srgbClr val="FFFFFF"/>
                </a:solidFill>
                <a:latin typeface="メイリオ"/>
                <a:ea typeface="メイリオ"/>
              </a:rPr>
              <a:t>要相談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3440" y="4480560"/>
            <a:ext cx="3200400" cy="12801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FFFFFF"/>
                </a:solidFill>
                <a:latin typeface="メイリオ"/>
                <a:ea typeface="メイリオ"/>
              </a:rPr>
              <a:t>• システム稼働監視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FFFFFF"/>
                </a:solidFill>
                <a:latin typeface="メイリオ"/>
                <a:ea typeface="メイリオ"/>
              </a:rPr>
              <a:t>• データバックアップ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FFFFFF"/>
                </a:solidFill>
                <a:latin typeface="メイリオ"/>
                <a:ea typeface="メイリオ"/>
              </a:rPr>
              <a:t>• LINE・メールサポート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FFFFFF"/>
                </a:solidFill>
                <a:latin typeface="メイリオ"/>
                <a:ea typeface="メイリオ"/>
              </a:rPr>
              <a:t>• 軽微な修正対応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321040" y="1828800"/>
            <a:ext cx="3657600" cy="41148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46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21040" y="2103120"/>
            <a:ext cx="3657600" cy="7315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4400" b="0">
                <a:solidFill>
                  <a:srgbClr val="333333"/>
                </a:solidFill>
                <a:latin typeface="メイリオ"/>
                <a:ea typeface="メイリオ"/>
              </a:rPr>
              <a:t>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21040" y="3017520"/>
            <a:ext cx="365760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>
                <a:solidFill>
                  <a:srgbClr val="7B4A5C"/>
                </a:solidFill>
                <a:latin typeface="メイリオ"/>
                <a:ea typeface="メイリオ"/>
              </a:rPr>
              <a:t>オプション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778240" y="3520440"/>
            <a:ext cx="2743200" cy="900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21040" y="3657600"/>
            <a:ext cx="3657600" cy="7315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200" b="1">
                <a:solidFill>
                  <a:srgbClr val="D4688A"/>
                </a:solidFill>
                <a:latin typeface="メイリオ"/>
                <a:ea typeface="メイリオ"/>
              </a:rPr>
              <a:t>要相談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95360" y="4480560"/>
            <a:ext cx="3200400" cy="12801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• カスタマイズ開発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• 追加研修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• 繁忙期サポート強化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• 複数店舗対応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828800" y="6080760"/>
            <a:ext cx="8503920" cy="365760"/>
          </a:xfrm>
          <a:prstGeom prst="roundRect">
            <a:avLst/>
          </a:prstGeom>
          <a:solidFill>
            <a:srgbClr val="FF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828800" y="6080760"/>
            <a:ext cx="850392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7B4A5C"/>
                </a:solidFill>
                <a:latin typeface="メイリオ"/>
                <a:ea typeface="メイリオ"/>
              </a:rPr>
              <a:t>※ 個別見積もりいたします。お気軽にご相談ください。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4320" y="6446520"/>
            <a:ext cx="54864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</a:rPr>
              <a:t>サロン顧客管理システム ご提案資料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0" y="6446520"/>
            <a:ext cx="146304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</a:rPr>
              <a:t>15 / 20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65760" y="274320"/>
            <a:ext cx="548640" cy="548640"/>
          </a:xfrm>
          <a:prstGeom prst="ellipse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56032"/>
            <a:ext cx="10058400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7B4A5C"/>
                </a:solidFill>
                <a:latin typeface="メイリオ"/>
                <a:ea typeface="メイリオ"/>
              </a:rPr>
              <a:t>サポート体制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960120"/>
            <a:ext cx="11430000" cy="18000"/>
          </a:xfrm>
          <a:prstGeom prst="rect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188720"/>
            <a:ext cx="1097280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7B4A5C"/>
                </a:solidFill>
                <a:latin typeface="メイリオ"/>
                <a:ea typeface="メイリオ"/>
              </a:rPr>
              <a:t>導入後も安心の4段階サポート。困った時はいつでもご相談ください。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828800"/>
            <a:ext cx="5669280" cy="2011680"/>
          </a:xfrm>
          <a:prstGeom prst="roundRect">
            <a:avLst/>
          </a:prstGeom>
          <a:solidFill>
            <a:srgbClr val="FFF5F7"/>
          </a:solidFill>
          <a:ln w="19050">
            <a:solidFill>
              <a:srgbClr val="D46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85800" y="2240280"/>
            <a:ext cx="1188720" cy="1188720"/>
          </a:xfrm>
          <a:prstGeom prst="ellipse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240280"/>
            <a:ext cx="1188720" cy="11887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3600" b="0">
                <a:solidFill>
                  <a:srgbClr val="333333"/>
                </a:solidFill>
                <a:latin typeface="メイリオ"/>
                <a:ea typeface="メイリオ"/>
              </a:rPr>
              <a:t>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2011680"/>
            <a:ext cx="393192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D4A574"/>
                </a:solidFill>
                <a:latin typeface="メイリオ"/>
                <a:ea typeface="メイリオ"/>
              </a:rPr>
              <a:t>導入時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57400" y="2331720"/>
            <a:ext cx="393192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7B4A5C"/>
                </a:solidFill>
                <a:latin typeface="メイリオ"/>
                <a:ea typeface="メイリオ"/>
              </a:rPr>
              <a:t>設定代行 ＋ オンライン研修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57400" y="2834640"/>
            <a:ext cx="4023360" cy="9144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初期設定を代行し、管理画面の操作方法を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オンライン（画面共有）で丁寧にご説明。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828800"/>
            <a:ext cx="5669280" cy="2011680"/>
          </a:xfrm>
          <a:prstGeom prst="roundRect">
            <a:avLst/>
          </a:prstGeom>
          <a:solidFill>
            <a:srgbClr val="FFF5F7"/>
          </a:solidFill>
          <a:ln w="19050">
            <a:solidFill>
              <a:srgbClr val="D46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37960" y="2240280"/>
            <a:ext cx="1188720" cy="1188720"/>
          </a:xfrm>
          <a:prstGeom prst="ellipse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7960" y="2240280"/>
            <a:ext cx="1188720" cy="11887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3600" b="0">
                <a:solidFill>
                  <a:srgbClr val="333333"/>
                </a:solidFill>
                <a:latin typeface="メイリオ"/>
                <a:ea typeface="メイリオ"/>
              </a:rPr>
              <a:t>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2011680"/>
            <a:ext cx="393192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D4A574"/>
                </a:solidFill>
                <a:latin typeface="メイリオ"/>
                <a:ea typeface="メイリオ"/>
              </a:rPr>
              <a:t>運用開始後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09560" y="2331720"/>
            <a:ext cx="393192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7B4A5C"/>
                </a:solidFill>
                <a:latin typeface="メイリオ"/>
                <a:ea typeface="メイリオ"/>
              </a:rPr>
              <a:t>LINE・メールサポート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9560" y="2834640"/>
            <a:ext cx="4023360" cy="9144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ご不明点はLINEまたはメールで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24時間受付。営業日に順次回答します。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023360"/>
            <a:ext cx="5669280" cy="2011680"/>
          </a:xfrm>
          <a:prstGeom prst="roundRect">
            <a:avLst/>
          </a:prstGeom>
          <a:solidFill>
            <a:srgbClr val="FFF5F7"/>
          </a:solidFill>
          <a:ln w="19050">
            <a:solidFill>
              <a:srgbClr val="D46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85800" y="4434840"/>
            <a:ext cx="1188720" cy="1188720"/>
          </a:xfrm>
          <a:prstGeom prst="ellipse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434840"/>
            <a:ext cx="1188720" cy="11887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3600" b="0">
                <a:solidFill>
                  <a:srgbClr val="333333"/>
                </a:solidFill>
                <a:latin typeface="メイリオ"/>
                <a:ea typeface="メイリオ"/>
              </a:rPr>
              <a:t>📅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57400" y="4206240"/>
            <a:ext cx="393192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D4A574"/>
                </a:solidFill>
                <a:latin typeface="メイリオ"/>
                <a:ea typeface="メイリオ"/>
              </a:rPr>
              <a:t>月次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57400" y="4526280"/>
            <a:ext cx="393192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7B4A5C"/>
                </a:solidFill>
                <a:latin typeface="メイリオ"/>
                <a:ea typeface="メイリオ"/>
              </a:rPr>
              <a:t>運用状況の確認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57400" y="5029200"/>
            <a:ext cx="4023360" cy="9144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月1回、予約件数・売上・稼働状況を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レポートとしてご報告。改善提案も。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09360" y="4023360"/>
            <a:ext cx="5669280" cy="2011680"/>
          </a:xfrm>
          <a:prstGeom prst="roundRect">
            <a:avLst/>
          </a:prstGeom>
          <a:solidFill>
            <a:srgbClr val="FFF5F7"/>
          </a:solidFill>
          <a:ln w="19050">
            <a:solidFill>
              <a:srgbClr val="D46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537960" y="4434840"/>
            <a:ext cx="1188720" cy="1188720"/>
          </a:xfrm>
          <a:prstGeom prst="ellipse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37960" y="4434840"/>
            <a:ext cx="1188720" cy="11887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3600" b="0">
                <a:solidFill>
                  <a:srgbClr val="333333"/>
                </a:solidFill>
                <a:latin typeface="メイリオ"/>
                <a:ea typeface="メイリオ"/>
              </a:rPr>
              <a:t>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09560" y="4206240"/>
            <a:ext cx="393192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D4A574"/>
                </a:solidFill>
                <a:latin typeface="メイリオ"/>
                <a:ea typeface="メイリオ"/>
              </a:rPr>
              <a:t>緊急時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09560" y="4526280"/>
            <a:ext cx="393192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7B4A5C"/>
                </a:solidFill>
                <a:latin typeface="メイリオ"/>
                <a:ea typeface="メイリオ"/>
              </a:rPr>
              <a:t>障害対応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09560" y="5029200"/>
            <a:ext cx="4023360" cy="9144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システム停止や重大な不具合発生時は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優先対応。復旧までの情報共有も密に。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4320" y="6446520"/>
            <a:ext cx="54864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</a:rPr>
              <a:t>サロン顧客管理システム ご提案資料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0" y="6446520"/>
            <a:ext cx="146304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</a:rPr>
              <a:t>16 / 20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65760" y="274320"/>
            <a:ext cx="548640" cy="548640"/>
          </a:xfrm>
          <a:prstGeom prst="ellipse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56032"/>
            <a:ext cx="10058400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7B4A5C"/>
                </a:solidFill>
                <a:latin typeface="メイリオ"/>
                <a:ea typeface="メイリオ"/>
              </a:rPr>
              <a:t>よくあるご質問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960120"/>
            <a:ext cx="11430000" cy="18000"/>
          </a:xfrm>
          <a:prstGeom prst="rect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188720"/>
            <a:ext cx="109728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7B4A5C"/>
                </a:solidFill>
                <a:latin typeface="メイリオ"/>
                <a:ea typeface="メイリオ"/>
              </a:rPr>
              <a:t>導入前によくいただくご質問をまとめました。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91640"/>
            <a:ext cx="548640" cy="365760"/>
          </a:xfrm>
          <a:prstGeom prst="roundRect">
            <a:avLst/>
          </a:prstGeom>
          <a:solidFill>
            <a:srgbClr val="D46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691640"/>
            <a:ext cx="54864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Arial"/>
                <a:ea typeface="メイリオ"/>
              </a:rPr>
              <a:t>Q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1691640"/>
            <a:ext cx="1051560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7B4A5C"/>
                </a:solidFill>
                <a:latin typeface="メイリオ"/>
                <a:ea typeface="メイリオ"/>
              </a:rPr>
              <a:t>操作が難しそうで不安です。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103120"/>
            <a:ext cx="548640" cy="365760"/>
          </a:xfrm>
          <a:prstGeom prst="round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103120"/>
            <a:ext cx="54864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Arial"/>
                <a:ea typeface="メイリオ"/>
              </a:rPr>
              <a:t>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2103120"/>
            <a:ext cx="1051560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ご心配いりません。導入時にマニュアルをお渡しし、オンライン研修で実際に操作しながらご説明します。運用開始後もいつでも質問OK。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624328"/>
            <a:ext cx="548640" cy="365760"/>
          </a:xfrm>
          <a:prstGeom prst="roundRect">
            <a:avLst/>
          </a:prstGeom>
          <a:solidFill>
            <a:srgbClr val="D46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624328"/>
            <a:ext cx="54864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Arial"/>
                <a:ea typeface="メイリオ"/>
              </a:rPr>
              <a:t>Q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2624328"/>
            <a:ext cx="1051560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7B4A5C"/>
                </a:solidFill>
                <a:latin typeface="メイリオ"/>
                <a:ea typeface="メイリオ"/>
              </a:rPr>
              <a:t>データはどこに保管されますか？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035808"/>
            <a:ext cx="548640" cy="365760"/>
          </a:xfrm>
          <a:prstGeom prst="round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3035808"/>
            <a:ext cx="54864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Arial"/>
                <a:ea typeface="メイリオ"/>
              </a:rPr>
              <a:t>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3035808"/>
            <a:ext cx="1051560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Google社のクラウド（スプレッドシート）上に、オーナー様のアカウントで保管されます。データの所有権は完全にサロン様にあります。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557016"/>
            <a:ext cx="548640" cy="365760"/>
          </a:xfrm>
          <a:prstGeom prst="roundRect">
            <a:avLst/>
          </a:prstGeom>
          <a:solidFill>
            <a:srgbClr val="D46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3557016"/>
            <a:ext cx="54864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Arial"/>
                <a:ea typeface="メイリオ"/>
              </a:rPr>
              <a:t>Q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3557016"/>
            <a:ext cx="1051560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7B4A5C"/>
                </a:solidFill>
                <a:latin typeface="メイリオ"/>
                <a:ea typeface="メイリオ"/>
              </a:rPr>
              <a:t>既存の顧客データはどうなりますか？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3968496"/>
            <a:ext cx="548640" cy="365760"/>
          </a:xfrm>
          <a:prstGeom prst="round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3968496"/>
            <a:ext cx="54864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Arial"/>
                <a:ea typeface="メイリオ"/>
              </a:rPr>
              <a:t>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" y="3968496"/>
            <a:ext cx="1051560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エクセル・CSVで書き出せる形式であれば、一括でインポートできます。移行作業は弊社で代行しますのでご安心ください。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4489704"/>
            <a:ext cx="548640" cy="365760"/>
          </a:xfrm>
          <a:prstGeom prst="roundRect">
            <a:avLst/>
          </a:prstGeom>
          <a:solidFill>
            <a:srgbClr val="D46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4489704"/>
            <a:ext cx="54864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Arial"/>
                <a:ea typeface="メイリオ"/>
              </a:rPr>
              <a:t>Q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" y="4489704"/>
            <a:ext cx="1051560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7B4A5C"/>
                </a:solidFill>
                <a:latin typeface="メイリオ"/>
                <a:ea typeface="メイリオ"/>
              </a:rPr>
              <a:t>途中で解約したくなったら？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4901184"/>
            <a:ext cx="548640" cy="365760"/>
          </a:xfrm>
          <a:prstGeom prst="round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4901184"/>
            <a:ext cx="54864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Arial"/>
                <a:ea typeface="メイリオ"/>
              </a:rPr>
              <a:t>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7280" y="4901184"/>
            <a:ext cx="1051560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データはそのまま保持され、サロン様のGoogleアカウントに残ります。いつでも内容を確認・ダウンロードしていただけます。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5422392"/>
            <a:ext cx="548640" cy="365760"/>
          </a:xfrm>
          <a:prstGeom prst="roundRect">
            <a:avLst/>
          </a:prstGeom>
          <a:solidFill>
            <a:srgbClr val="D46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5422392"/>
            <a:ext cx="54864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Arial"/>
                <a:ea typeface="メイリオ"/>
              </a:rPr>
              <a:t>Q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7280" y="5422392"/>
            <a:ext cx="1051560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7B4A5C"/>
                </a:solidFill>
                <a:latin typeface="メイリオ"/>
                <a:ea typeface="メイリオ"/>
              </a:rPr>
              <a:t>月の予約件数に制限はありますか？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57200" y="5833872"/>
            <a:ext cx="548640" cy="365760"/>
          </a:xfrm>
          <a:prstGeom prst="round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" y="5833872"/>
            <a:ext cx="54864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Arial"/>
                <a:ea typeface="メイリオ"/>
              </a:rPr>
              <a:t>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7280" y="5833872"/>
            <a:ext cx="1051560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システム自体に件数上限はありません。LINE公式アカウントの無料枠を超える規模の場合は、有料プランへの移行をご相談いたします。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" y="6446520"/>
            <a:ext cx="54864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</a:rPr>
              <a:t>サロン顧客管理システム ご提案資料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15600" y="6446520"/>
            <a:ext cx="146304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</a:rPr>
              <a:t>17 / 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65760" y="274320"/>
            <a:ext cx="548640" cy="548640"/>
          </a:xfrm>
          <a:prstGeom prst="ellipse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56032"/>
            <a:ext cx="10058400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7B4A5C"/>
                </a:solidFill>
                <a:latin typeface="メイリオ"/>
                <a:ea typeface="メイリオ"/>
              </a:rPr>
              <a:t>お客様の声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960120"/>
            <a:ext cx="11430000" cy="18000"/>
          </a:xfrm>
          <a:prstGeom prst="rect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188720"/>
            <a:ext cx="1097280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7B4A5C"/>
                </a:solidFill>
                <a:latin typeface="メイリオ"/>
                <a:ea typeface="メイリオ"/>
              </a:rPr>
              <a:t>導入いただいたサロン様からのコメントをご紹介します。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828800"/>
            <a:ext cx="3657600" cy="41148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46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103120"/>
            <a:ext cx="3657600" cy="9144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5400" b="0">
                <a:solidFill>
                  <a:srgbClr val="333333"/>
                </a:solidFill>
                <a:latin typeface="メイリオ"/>
                <a:ea typeface="メイリオ"/>
              </a:rPr>
              <a:t>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108960"/>
            <a:ext cx="36576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D4A574"/>
                </a:solidFill>
                <a:latin typeface="メイリオ"/>
                <a:ea typeface="メイリオ"/>
              </a:rPr>
              <a:t>★★★★★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520440"/>
            <a:ext cx="36576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7B4A5C"/>
                </a:solidFill>
                <a:latin typeface="メイリオ"/>
                <a:ea typeface="メイリオ"/>
              </a:rPr>
              <a:t>サロンA様（ヘアサロン）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977640"/>
            <a:ext cx="3108960" cy="18288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</a:rPr>
              <a:t>「導入1ヶ月で、無断キャンセルが</a:t>
            </a:r>
          </a:p>
          <a:p>
            <a:pPr algn="ctr">
              <a:lnSpc>
                <a:spcPct val="14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</a:rPr>
              <a:t>半分以下に減りました。</a:t>
            </a:r>
          </a:p>
          <a:p>
            <a:pPr algn="ctr">
              <a:lnSpc>
                <a:spcPct val="14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</a:rPr>
              <a:t>前日リマインドの効果は絶大です。」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9120" y="1828800"/>
            <a:ext cx="3657600" cy="41148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46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89120" y="2103120"/>
            <a:ext cx="3657600" cy="9144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5400" b="0">
                <a:solidFill>
                  <a:srgbClr val="333333"/>
                </a:solidFill>
                <a:latin typeface="メイリオ"/>
                <a:ea typeface="メイリオ"/>
              </a:rPr>
              <a:t>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3108960"/>
            <a:ext cx="36576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D4A574"/>
                </a:solidFill>
                <a:latin typeface="メイリオ"/>
                <a:ea typeface="メイリオ"/>
              </a:rPr>
              <a:t>★★★★★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3520440"/>
            <a:ext cx="36576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7B4A5C"/>
                </a:solidFill>
                <a:latin typeface="メイリオ"/>
                <a:ea typeface="メイリオ"/>
              </a:rPr>
              <a:t>サロンB様（エステ）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3977640"/>
            <a:ext cx="3108960" cy="18288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</a:rPr>
              <a:t>「お客様から『LINEで予約できて</a:t>
            </a:r>
          </a:p>
          <a:p>
            <a:pPr algn="ctr">
              <a:lnSpc>
                <a:spcPct val="14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</a:rPr>
              <a:t>便利』と好評。新規のご予約も</a:t>
            </a:r>
          </a:p>
          <a:p>
            <a:pPr algn="ctr">
              <a:lnSpc>
                <a:spcPct val="14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</a:rPr>
              <a:t>月30％増加しました。」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21040" y="1828800"/>
            <a:ext cx="3657600" cy="41148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46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21040" y="2103120"/>
            <a:ext cx="3657600" cy="9144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5400" b="0">
                <a:solidFill>
                  <a:srgbClr val="333333"/>
                </a:solidFill>
                <a:latin typeface="メイリオ"/>
                <a:ea typeface="メイリオ"/>
              </a:rPr>
              <a:t>💎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3108960"/>
            <a:ext cx="36576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D4A574"/>
                </a:solidFill>
                <a:latin typeface="メイリオ"/>
                <a:ea typeface="メイリオ"/>
              </a:rPr>
              <a:t>★★★★★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3520440"/>
            <a:ext cx="36576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7B4A5C"/>
                </a:solidFill>
                <a:latin typeface="メイリオ"/>
                <a:ea typeface="メイリオ"/>
              </a:rPr>
              <a:t>サロンC様（ネイル）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95360" y="3977640"/>
            <a:ext cx="3108960" cy="18288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</a:rPr>
              <a:t>「残回数が可視化されたことで、</a:t>
            </a:r>
          </a:p>
          <a:p>
            <a:pPr algn="ctr">
              <a:lnSpc>
                <a:spcPct val="14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</a:rPr>
              <a:t>コース追加のご案内が</a:t>
            </a:r>
          </a:p>
          <a:p>
            <a:pPr algn="ctr">
              <a:lnSpc>
                <a:spcPct val="14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</a:rPr>
              <a:t>自然にできるようになりました。」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080760"/>
            <a:ext cx="109728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>
                <a:solidFill>
                  <a:srgbClr val="888888"/>
                </a:solidFill>
                <a:latin typeface="メイリオ"/>
                <a:ea typeface="メイリオ"/>
              </a:rPr>
              <a:t>※ 上記はイメージです。実際の導入事例は、ご要望に応じて個別にご紹介いたします。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" y="6446520"/>
            <a:ext cx="54864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</a:rPr>
              <a:t>サロン顧客管理システム ご提案資料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0" y="6446520"/>
            <a:ext cx="146304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</a:rPr>
              <a:t>18 / 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65760" y="274320"/>
            <a:ext cx="548640" cy="548640"/>
          </a:xfrm>
          <a:prstGeom prst="ellipse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56032"/>
            <a:ext cx="10058400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7B4A5C"/>
                </a:solidFill>
                <a:latin typeface="メイリオ"/>
                <a:ea typeface="メイリオ"/>
              </a:rPr>
              <a:t>導入までの次のステップ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960120"/>
            <a:ext cx="11430000" cy="18000"/>
          </a:xfrm>
          <a:prstGeom prst="rect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188720"/>
            <a:ext cx="1097280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7B4A5C"/>
                </a:solidFill>
                <a:latin typeface="メイリオ"/>
                <a:ea typeface="メイリオ"/>
              </a:rPr>
              <a:t>たった5ステップで、新しいサロン運営が始まります。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1362456" y="1920240"/>
            <a:ext cx="18000" cy="420624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05840" y="1828800"/>
            <a:ext cx="731520" cy="731520"/>
          </a:xfrm>
          <a:prstGeom prst="ellipse">
            <a:avLst/>
          </a:prstGeom>
          <a:solidFill>
            <a:srgbClr val="D4688A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828800"/>
            <a:ext cx="731520" cy="7315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>
                <a:solidFill>
                  <a:srgbClr val="FFFFFF"/>
                </a:solidFill>
                <a:latin typeface="Arial"/>
                <a:ea typeface="メイリオ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11680" y="1828800"/>
            <a:ext cx="9601200" cy="731520"/>
          </a:xfrm>
          <a:prstGeom prst="roundRect">
            <a:avLst/>
          </a:prstGeom>
          <a:solidFill>
            <a:srgbClr val="FFF5F7"/>
          </a:solidFill>
          <a:ln w="12700">
            <a:solidFill>
              <a:srgbClr val="D46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94560" y="1828800"/>
            <a:ext cx="3200400" cy="7315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7B4A5C"/>
                </a:solidFill>
                <a:latin typeface="メイリオ"/>
                <a:ea typeface="メイリオ"/>
              </a:rPr>
              <a:t>本資料ご確認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94960" y="1828800"/>
            <a:ext cx="6035040" cy="7315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</a:rPr>
              <a:t>まずはこの資料をゆっくりご確認ください。</a:t>
            </a:r>
          </a:p>
        </p:txBody>
      </p:sp>
      <p:sp>
        <p:nvSpPr>
          <p:cNvPr id="15" name="Oval 14"/>
          <p:cNvSpPr/>
          <p:nvPr/>
        </p:nvSpPr>
        <p:spPr>
          <a:xfrm>
            <a:off x="1005840" y="2697480"/>
            <a:ext cx="731520" cy="731520"/>
          </a:xfrm>
          <a:prstGeom prst="ellipse">
            <a:avLst/>
          </a:prstGeom>
          <a:solidFill>
            <a:srgbClr val="D4688A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2697480"/>
            <a:ext cx="731520" cy="7315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>
                <a:solidFill>
                  <a:srgbClr val="FFFFFF"/>
                </a:solidFill>
                <a:latin typeface="Arial"/>
                <a:ea typeface="メイリオ"/>
              </a:rPr>
              <a:t>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011680" y="2697480"/>
            <a:ext cx="9601200" cy="731520"/>
          </a:xfrm>
          <a:prstGeom prst="roundRect">
            <a:avLst/>
          </a:prstGeom>
          <a:solidFill>
            <a:srgbClr val="FFF5F7"/>
          </a:solidFill>
          <a:ln w="12700">
            <a:solidFill>
              <a:srgbClr val="D46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194560" y="2697480"/>
            <a:ext cx="3200400" cy="7315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7B4A5C"/>
                </a:solidFill>
                <a:latin typeface="メイリオ"/>
                <a:ea typeface="メイリオ"/>
              </a:rPr>
              <a:t>ヒアリング（30分無料）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94960" y="2697480"/>
            <a:ext cx="6035040" cy="7315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</a:rPr>
              <a:t>オンラインまたは訪問で、現状の課題をお伺いします。</a:t>
            </a:r>
          </a:p>
        </p:txBody>
      </p:sp>
      <p:sp>
        <p:nvSpPr>
          <p:cNvPr id="20" name="Oval 19"/>
          <p:cNvSpPr/>
          <p:nvPr/>
        </p:nvSpPr>
        <p:spPr>
          <a:xfrm>
            <a:off x="1005840" y="3566160"/>
            <a:ext cx="731520" cy="731520"/>
          </a:xfrm>
          <a:prstGeom prst="ellipse">
            <a:avLst/>
          </a:prstGeom>
          <a:solidFill>
            <a:srgbClr val="D4688A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3566160"/>
            <a:ext cx="731520" cy="7315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>
                <a:solidFill>
                  <a:srgbClr val="FFFFFF"/>
                </a:solidFill>
                <a:latin typeface="Arial"/>
                <a:ea typeface="メイリオ"/>
              </a:rPr>
              <a:t>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011680" y="3566160"/>
            <a:ext cx="9601200" cy="731520"/>
          </a:xfrm>
          <a:prstGeom prst="roundRect">
            <a:avLst/>
          </a:prstGeom>
          <a:solidFill>
            <a:srgbClr val="FFF5F7"/>
          </a:solidFill>
          <a:ln w="12700">
            <a:solidFill>
              <a:srgbClr val="D46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94560" y="3566160"/>
            <a:ext cx="3200400" cy="7315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7B4A5C"/>
                </a:solidFill>
                <a:latin typeface="メイリオ"/>
                <a:ea typeface="メイリオ"/>
              </a:rPr>
              <a:t>お見積り提示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94960" y="3566160"/>
            <a:ext cx="6035040" cy="7315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</a:rPr>
              <a:t>サロン様に最適なプラン・金額をご提案。</a:t>
            </a:r>
          </a:p>
        </p:txBody>
      </p:sp>
      <p:sp>
        <p:nvSpPr>
          <p:cNvPr id="25" name="Oval 24"/>
          <p:cNvSpPr/>
          <p:nvPr/>
        </p:nvSpPr>
        <p:spPr>
          <a:xfrm>
            <a:off x="1005840" y="4434840"/>
            <a:ext cx="731520" cy="731520"/>
          </a:xfrm>
          <a:prstGeom prst="ellipse">
            <a:avLst/>
          </a:prstGeom>
          <a:solidFill>
            <a:srgbClr val="D4688A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5840" y="4434840"/>
            <a:ext cx="731520" cy="7315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>
                <a:solidFill>
                  <a:srgbClr val="FFFFFF"/>
                </a:solidFill>
                <a:latin typeface="Arial"/>
                <a:ea typeface="メイリオ"/>
              </a:rPr>
              <a:t>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011680" y="4434840"/>
            <a:ext cx="9601200" cy="731520"/>
          </a:xfrm>
          <a:prstGeom prst="roundRect">
            <a:avLst/>
          </a:prstGeom>
          <a:solidFill>
            <a:srgbClr val="FFF5F7"/>
          </a:solidFill>
          <a:ln w="12700">
            <a:solidFill>
              <a:srgbClr val="D46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194560" y="4434840"/>
            <a:ext cx="3200400" cy="7315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7B4A5C"/>
                </a:solidFill>
                <a:latin typeface="メイリオ"/>
                <a:ea typeface="メイリオ"/>
              </a:rPr>
              <a:t>ご契約・初期設定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94960" y="4434840"/>
            <a:ext cx="6035040" cy="7315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</a:rPr>
              <a:t>ご契約後、4週間で環境構築・データ移行を実施。</a:t>
            </a:r>
          </a:p>
        </p:txBody>
      </p:sp>
      <p:sp>
        <p:nvSpPr>
          <p:cNvPr id="30" name="Oval 29"/>
          <p:cNvSpPr/>
          <p:nvPr/>
        </p:nvSpPr>
        <p:spPr>
          <a:xfrm>
            <a:off x="1005840" y="5303520"/>
            <a:ext cx="731520" cy="731520"/>
          </a:xfrm>
          <a:prstGeom prst="ellipse">
            <a:avLst/>
          </a:prstGeom>
          <a:solidFill>
            <a:srgbClr val="D4688A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5840" y="5303520"/>
            <a:ext cx="731520" cy="7315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>
                <a:solidFill>
                  <a:srgbClr val="FFFFFF"/>
                </a:solidFill>
                <a:latin typeface="Arial"/>
                <a:ea typeface="メイリオ"/>
              </a:rPr>
              <a:t>5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011680" y="5303520"/>
            <a:ext cx="9601200" cy="731520"/>
          </a:xfrm>
          <a:prstGeom prst="roundRect">
            <a:avLst/>
          </a:prstGeom>
          <a:solidFill>
            <a:srgbClr val="FFF5F7"/>
          </a:solidFill>
          <a:ln w="12700">
            <a:solidFill>
              <a:srgbClr val="D46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194560" y="5303520"/>
            <a:ext cx="3200400" cy="7315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7B4A5C"/>
                </a:solidFill>
                <a:latin typeface="メイリオ"/>
                <a:ea typeface="メイリオ"/>
              </a:rPr>
              <a:t>運用開始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394960" y="5303520"/>
            <a:ext cx="6035040" cy="7315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</a:rPr>
              <a:t>操作研修を経て、本格運用スタート！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74320" y="6446520"/>
            <a:ext cx="54864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</a:rPr>
              <a:t>サロン顧客管理システム ご提案資料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15600" y="6446520"/>
            <a:ext cx="146304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</a:rPr>
              <a:t>19 / 20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28600"/>
          </a:xfrm>
          <a:prstGeom prst="rect">
            <a:avLst/>
          </a:prstGeom>
          <a:solidFill>
            <a:srgbClr val="D46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D46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822960"/>
            <a:ext cx="10360152" cy="10972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600" b="1">
                <a:solidFill>
                  <a:srgbClr val="7B4A5C"/>
                </a:solidFill>
                <a:latin typeface="メイリオ"/>
                <a:ea typeface="メイリオ"/>
              </a:rPr>
              <a:t>まずはお気軽にご相談ください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691640"/>
            <a:ext cx="10360152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>
                <a:solidFill>
                  <a:srgbClr val="D4A574"/>
                </a:solidFill>
                <a:latin typeface="Arial"/>
                <a:ea typeface="メイリオ"/>
              </a:rPr>
              <a:t>Contact Us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86000" y="2468880"/>
            <a:ext cx="7589520" cy="347472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D46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86000" y="2743200"/>
            <a:ext cx="758952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888888"/>
                </a:solidFill>
                <a:latin typeface="メイリオ"/>
                <a:ea typeface="メイリオ"/>
              </a:rPr>
              <a:t>担当者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3063240"/>
            <a:ext cx="758952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7B4A5C"/>
                </a:solidFill>
                <a:latin typeface="メイリオ"/>
                <a:ea typeface="メイリオ"/>
              </a:rPr>
              <a:t>〇〇 〇〇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0" y="3657600"/>
            <a:ext cx="4846320" cy="900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86000" y="3794760"/>
            <a:ext cx="758952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D4688A"/>
                </a:solidFill>
                <a:latin typeface="メイリオ"/>
                <a:ea typeface="メイリオ"/>
              </a:rPr>
              <a:t>📧 Email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86000" y="4114800"/>
            <a:ext cx="758952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>
                <a:solidFill>
                  <a:srgbClr val="333333"/>
                </a:solidFill>
                <a:latin typeface="Arial"/>
                <a:ea typeface="メイリオ"/>
              </a:rPr>
              <a:t>xxxxx@example.com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4663440"/>
            <a:ext cx="758952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D4688A"/>
                </a:solidFill>
                <a:latin typeface="メイリオ"/>
                <a:ea typeface="メイリオ"/>
              </a:rPr>
              <a:t>📞 TEL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86000" y="4983480"/>
            <a:ext cx="758952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>
                <a:solidFill>
                  <a:srgbClr val="333333"/>
                </a:solidFill>
                <a:latin typeface="Arial"/>
                <a:ea typeface="メイリオ"/>
              </a:rPr>
              <a:t>000-0000-0000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86000" y="5532120"/>
            <a:ext cx="758952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888888"/>
                </a:solidFill>
                <a:latin typeface="メイリオ"/>
                <a:ea typeface="メイリオ"/>
              </a:rPr>
              <a:t>営業時間: 平日 10:00〜18:00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6126480"/>
            <a:ext cx="10360152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D4688A"/>
                </a:solidFill>
                <a:latin typeface="Arial"/>
                <a:ea typeface="メイリオ"/>
              </a:rPr>
              <a:t>🌸 Thank you 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